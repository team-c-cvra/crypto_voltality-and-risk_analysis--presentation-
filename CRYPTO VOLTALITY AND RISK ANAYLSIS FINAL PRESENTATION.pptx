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8288000" cy="10287000"/>
  <p:notesSz cx="6858000" cy="9144000"/>
  <p:embeddedFontLst>
    <p:embeddedFont>
      <p:font typeface="Playpen Sans Bold" panose="020B0604020202020204" charset="0"/>
      <p:regular r:id="rId18"/>
    </p:embeddedFont>
    <p:embeddedFont>
      <p:font typeface="Poppins Bold" panose="00000800000000000000" pitchFamily="2" charset="0"/>
      <p:regular r:id="rId19"/>
      <p:bold r:id="rId20"/>
    </p:embeddedFont>
    <p:embeddedFont>
      <p:font typeface="Times New Roman Bold" panose="02020803070505020304" pitchFamily="18" charset="0"/>
      <p:regular r:id="rId21"/>
      <p:bold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BB0F8-B1D7-442B-9FFE-C7AD05B9D0B7}" v="72" dt="2026-03-26T14:34:09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4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microsoft.com/office/2015/10/relationships/revisionInfo" Target="revisionInfo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.sv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svg"/><Relationship Id="rId3" Type="http://schemas.openxmlformats.org/officeDocument/2006/relationships/image" Target="../media/image9.png"/><Relationship Id="rId7" Type="http://schemas.openxmlformats.org/officeDocument/2006/relationships/image" Target="../media/image4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sv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2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sv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7.png"/><Relationship Id="rId7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1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5314759" y="1496488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29" y="14289302"/>
                </a:lnTo>
                <a:lnTo>
                  <a:pt x="10234229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688228" y="8641139"/>
            <a:ext cx="4772479" cy="3018593"/>
          </a:xfrm>
          <a:custGeom>
            <a:avLst/>
            <a:gdLst/>
            <a:ahLst/>
            <a:cxnLst/>
            <a:rect l="l" t="t" r="r" b="b"/>
            <a:pathLst>
              <a:path w="4772479" h="3018593">
                <a:moveTo>
                  <a:pt x="0" y="0"/>
                </a:moveTo>
                <a:lnTo>
                  <a:pt x="4772479" y="0"/>
                </a:lnTo>
                <a:lnTo>
                  <a:pt x="4772479" y="3018593"/>
                </a:lnTo>
                <a:lnTo>
                  <a:pt x="0" y="301859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28575" y="-300003"/>
            <a:ext cx="27085672" cy="14522434"/>
          </a:xfrm>
          <a:custGeom>
            <a:avLst/>
            <a:gdLst/>
            <a:ahLst/>
            <a:cxnLst/>
            <a:rect l="l" t="t" r="r" b="b"/>
            <a:pathLst>
              <a:path w="27085672" h="14522434">
                <a:moveTo>
                  <a:pt x="0" y="0"/>
                </a:moveTo>
                <a:lnTo>
                  <a:pt x="27085672" y="0"/>
                </a:lnTo>
                <a:lnTo>
                  <a:pt x="27085672" y="14522434"/>
                </a:lnTo>
                <a:lnTo>
                  <a:pt x="0" y="1452243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4678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688228" y="1057275"/>
            <a:ext cx="6606845" cy="646330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7229"/>
              </a:lnSpc>
            </a:pPr>
            <a:r>
              <a:rPr lang="en-US" sz="655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CRYPTO VOLATILITY AND </a:t>
            </a:r>
            <a:endParaRPr lang="en-US" sz="6550">
              <a:sym typeface="Times New Roman Bold"/>
            </a:endParaRPr>
          </a:p>
          <a:p>
            <a:pPr algn="l">
              <a:lnSpc>
                <a:spcPts val="7229"/>
              </a:lnSpc>
            </a:pPr>
            <a:r>
              <a:rPr lang="en-US" sz="655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RISK ANALYZER</a:t>
            </a:r>
            <a:endParaRPr lang="en-US" sz="6550"/>
          </a:p>
          <a:p>
            <a:pPr algn="l">
              <a:lnSpc>
                <a:spcPts val="7229"/>
              </a:lnSpc>
            </a:pPr>
            <a:endParaRPr lang="en-US" sz="6572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  <a:p>
            <a:pPr algn="l">
              <a:lnSpc>
                <a:spcPts val="7229"/>
              </a:lnSpc>
            </a:pPr>
            <a:endParaRPr lang="en-US" sz="6572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  <a:sym typeface="Times New Roman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1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V="1">
            <a:off x="12118080" y="377894"/>
            <a:ext cx="11309893" cy="15791171"/>
          </a:xfrm>
          <a:custGeom>
            <a:avLst/>
            <a:gdLst/>
            <a:ahLst/>
            <a:cxnLst/>
            <a:rect l="l" t="t" r="r" b="b"/>
            <a:pathLst>
              <a:path w="11309893" h="15791171">
                <a:moveTo>
                  <a:pt x="0" y="15791170"/>
                </a:moveTo>
                <a:lnTo>
                  <a:pt x="11309893" y="15791170"/>
                </a:lnTo>
                <a:lnTo>
                  <a:pt x="11309893" y="0"/>
                </a:lnTo>
                <a:lnTo>
                  <a:pt x="0" y="0"/>
                </a:lnTo>
                <a:lnTo>
                  <a:pt x="0" y="1579117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6085428" y="987939"/>
            <a:ext cx="5005698" cy="9666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619"/>
              </a:lnSpc>
            </a:pPr>
            <a:r>
              <a:rPr lang="en-US" sz="5442" b="1" spc="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INTRO</a:t>
            </a:r>
          </a:p>
        </p:txBody>
      </p:sp>
      <p:sp>
        <p:nvSpPr>
          <p:cNvPr id="4" name="Freeform 4"/>
          <p:cNvSpPr/>
          <p:nvPr/>
        </p:nvSpPr>
        <p:spPr>
          <a:xfrm rot="6952436" flipV="1">
            <a:off x="-5654946" y="-108657"/>
            <a:ext cx="11309893" cy="15791171"/>
          </a:xfrm>
          <a:custGeom>
            <a:avLst/>
            <a:gdLst/>
            <a:ahLst/>
            <a:cxnLst/>
            <a:rect l="l" t="t" r="r" b="b"/>
            <a:pathLst>
              <a:path w="11309893" h="15791171">
                <a:moveTo>
                  <a:pt x="0" y="15791170"/>
                </a:moveTo>
                <a:lnTo>
                  <a:pt x="11309892" y="15791170"/>
                </a:lnTo>
                <a:lnTo>
                  <a:pt x="11309892" y="0"/>
                </a:lnTo>
                <a:lnTo>
                  <a:pt x="0" y="0"/>
                </a:lnTo>
                <a:lnTo>
                  <a:pt x="0" y="1579117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4552371" y="1028700"/>
            <a:ext cx="1096554" cy="1071228"/>
          </a:xfrm>
          <a:custGeom>
            <a:avLst/>
            <a:gdLst/>
            <a:ahLst/>
            <a:cxnLst/>
            <a:rect l="l" t="t" r="r" b="b"/>
            <a:pathLst>
              <a:path w="1096554" h="1071228">
                <a:moveTo>
                  <a:pt x="0" y="0"/>
                </a:moveTo>
                <a:lnTo>
                  <a:pt x="1096554" y="0"/>
                </a:lnTo>
                <a:lnTo>
                  <a:pt x="1096554" y="1071228"/>
                </a:lnTo>
                <a:lnTo>
                  <a:pt x="0" y="10712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364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026100" y="4662124"/>
            <a:ext cx="10235801" cy="476168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27"/>
              </a:lnSpc>
            </a:pPr>
            <a:r>
              <a:rPr lang="en-US" sz="4843" b="1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1. RAMA LAKSHMI KALLA</a:t>
            </a:r>
          </a:p>
          <a:p>
            <a:pPr algn="l">
              <a:lnSpc>
                <a:spcPts val="5327"/>
              </a:lnSpc>
            </a:pPr>
            <a:r>
              <a:rPr lang="en-US" sz="4843" b="1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2. ASHUTOSH CHOUDHURY</a:t>
            </a:r>
          </a:p>
          <a:p>
            <a:pPr algn="l">
              <a:lnSpc>
                <a:spcPts val="5327"/>
              </a:lnSpc>
            </a:pPr>
            <a:r>
              <a:rPr lang="en-US" sz="4843" b="1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3. KALASHREE KALPANA</a:t>
            </a:r>
          </a:p>
          <a:p>
            <a:pPr algn="l">
              <a:lnSpc>
                <a:spcPts val="5327"/>
              </a:lnSpc>
            </a:pPr>
            <a:r>
              <a:rPr lang="en-US" sz="4843" b="1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4. CHARITHA SRI NAGALLA</a:t>
            </a:r>
          </a:p>
          <a:p>
            <a:pPr algn="l">
              <a:lnSpc>
                <a:spcPts val="5327"/>
              </a:lnSpc>
            </a:pPr>
            <a:r>
              <a:rPr lang="en-US" sz="4843" b="1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5. BADAM NAGASHREE</a:t>
            </a:r>
          </a:p>
          <a:p>
            <a:pPr>
              <a:lnSpc>
                <a:spcPts val="5327"/>
              </a:lnSpc>
            </a:pPr>
            <a:r>
              <a:rPr lang="en-US" sz="4800" b="1">
                <a:solidFill>
                  <a:srgbClr val="FAFAFA"/>
                </a:solidFill>
                <a:latin typeface="Poppins Bold"/>
                <a:ea typeface="Poppins Bold"/>
                <a:cs typeface="Poppins Bold"/>
              </a:rPr>
              <a:t>6. SHREE RANJAANI</a:t>
            </a:r>
            <a:endParaRPr lang="en-US" sz="4800" b="1" dirty="0">
              <a:solidFill>
                <a:srgbClr val="FAFAFA"/>
              </a:solidFill>
              <a:latin typeface="Poppins Bold"/>
              <a:ea typeface="Poppins Bold"/>
              <a:cs typeface="Poppins Bold"/>
            </a:endParaRPr>
          </a:p>
          <a:p>
            <a:pPr>
              <a:lnSpc>
                <a:spcPts val="5327"/>
              </a:lnSpc>
            </a:pPr>
            <a:endParaRPr lang="en-US" sz="4843" b="1">
              <a:solidFill>
                <a:srgbClr val="FAFAFA"/>
              </a:solidFill>
              <a:latin typeface="Poppins Bold"/>
              <a:ea typeface="Poppins Bold"/>
              <a:cs typeface="Poppins Bold"/>
            </a:endParaRPr>
          </a:p>
        </p:txBody>
      </p:sp>
      <p:sp>
        <p:nvSpPr>
          <p:cNvPr id="7" name="TextBox 7"/>
          <p:cNvSpPr txBox="1"/>
          <p:nvPr/>
        </p:nvSpPr>
        <p:spPr>
          <a:xfrm>
            <a:off x="3804339" y="2831663"/>
            <a:ext cx="6172423" cy="6668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59"/>
              </a:lnSpc>
            </a:pPr>
            <a:r>
              <a:rPr lang="en-US" sz="4508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MENTOR:  S.SOPHIYA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50024" y="3776437"/>
            <a:ext cx="5966383" cy="6870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055"/>
              </a:lnSpc>
              <a:spcBef>
                <a:spcPct val="0"/>
              </a:spcBef>
            </a:pPr>
            <a:r>
              <a:rPr lang="en-US" sz="4596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MEMBERS: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1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09185" flipV="1">
            <a:off x="12882847" y="-1515692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5329406" y="782617"/>
            <a:ext cx="890812" cy="870238"/>
          </a:xfrm>
          <a:custGeom>
            <a:avLst/>
            <a:gdLst/>
            <a:ahLst/>
            <a:cxnLst/>
            <a:rect l="l" t="t" r="r" b="b"/>
            <a:pathLst>
              <a:path w="890812" h="870238">
                <a:moveTo>
                  <a:pt x="0" y="0"/>
                </a:moveTo>
                <a:lnTo>
                  <a:pt x="890812" y="0"/>
                </a:lnTo>
                <a:lnTo>
                  <a:pt x="890812" y="870238"/>
                </a:lnTo>
                <a:lnTo>
                  <a:pt x="0" y="870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36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6429768" y="762212"/>
            <a:ext cx="5433857" cy="806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84"/>
              </a:lnSpc>
            </a:pPr>
            <a:r>
              <a:rPr lang="en-US" sz="4631" b="1" spc="17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INTRODUCTION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3026592" y="2061462"/>
            <a:ext cx="12234816" cy="76006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29199" lvl="1" indent="-414599" algn="l">
              <a:lnSpc>
                <a:spcPts val="5376"/>
              </a:lnSpc>
              <a:buFont typeface="Arial"/>
              <a:buChar char="•"/>
            </a:pPr>
            <a:r>
              <a:rPr lang="en-US" sz="3840" b="1" spc="1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Cryptocurrency markets are known for their high price fluctuations and volatility.</a:t>
            </a:r>
          </a:p>
          <a:p>
            <a:pPr marL="829199" lvl="1" indent="-414599" algn="l">
              <a:lnSpc>
                <a:spcPts val="5376"/>
              </a:lnSpc>
              <a:buFont typeface="Arial"/>
              <a:buChar char="•"/>
            </a:pPr>
            <a:r>
              <a:rPr lang="en-US" sz="3840" b="1" spc="1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Prices of digital assets such as Bitcoin and Ethereum can change rapidly within a short period.</a:t>
            </a:r>
          </a:p>
          <a:p>
            <a:pPr marL="874020" lvl="1" indent="-437010" algn="l">
              <a:lnSpc>
                <a:spcPts val="5667"/>
              </a:lnSpc>
              <a:buFont typeface="Arial"/>
              <a:buChar char="•"/>
            </a:pPr>
            <a:r>
              <a:rPr lang="en-US" sz="4048" b="1" spc="137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Understanding these fluctuations is important for investors and traders to make better financial decisions.</a:t>
            </a:r>
          </a:p>
          <a:p>
            <a:pPr marL="829199" lvl="1" indent="-414599" algn="l">
              <a:lnSpc>
                <a:spcPts val="5376"/>
              </a:lnSpc>
              <a:buFont typeface="Arial"/>
              <a:buChar char="•"/>
            </a:pPr>
            <a:r>
              <a:rPr lang="en-US" sz="3840" b="1" spc="13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This project analyzes cryptocurrency data and visualizes volatility patterns to help understand the risk involved.</a:t>
            </a:r>
          </a:p>
        </p:txBody>
      </p:sp>
      <p:sp>
        <p:nvSpPr>
          <p:cNvPr id="6" name="Freeform 6"/>
          <p:cNvSpPr/>
          <p:nvPr/>
        </p:nvSpPr>
        <p:spPr>
          <a:xfrm rot="8792465" flipV="1">
            <a:off x="-6469031" y="-2357645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1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996615" y="-308117"/>
            <a:ext cx="7291385" cy="10595117"/>
            <a:chOff x="0" y="0"/>
            <a:chExt cx="9721847" cy="14126822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36590" r="36590"/>
            <a:stretch>
              <a:fillRect/>
            </a:stretch>
          </p:blipFill>
          <p:spPr>
            <a:xfrm>
              <a:off x="0" y="0"/>
              <a:ext cx="9721847" cy="14126822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 rot="5400000">
            <a:off x="1699998" y="3281216"/>
            <a:ext cx="47625" cy="1379730"/>
            <a:chOff x="0" y="0"/>
            <a:chExt cx="110274" cy="3194727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110274" cy="3194727"/>
            </a:xfrm>
            <a:custGeom>
              <a:avLst/>
              <a:gdLst/>
              <a:ahLst/>
              <a:cxnLst/>
              <a:rect l="l" t="t" r="r" b="b"/>
              <a:pathLst>
                <a:path w="110274" h="3194727">
                  <a:moveTo>
                    <a:pt x="0" y="0"/>
                  </a:moveTo>
                  <a:lnTo>
                    <a:pt x="110274" y="0"/>
                  </a:lnTo>
                  <a:lnTo>
                    <a:pt x="110274" y="3194727"/>
                  </a:lnTo>
                  <a:lnTo>
                    <a:pt x="0" y="3194727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57150"/>
              <a:ext cx="110274" cy="325187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7" name="Freeform 7"/>
          <p:cNvSpPr/>
          <p:nvPr/>
        </p:nvSpPr>
        <p:spPr>
          <a:xfrm>
            <a:off x="832998" y="713764"/>
            <a:ext cx="890812" cy="870238"/>
          </a:xfrm>
          <a:custGeom>
            <a:avLst/>
            <a:gdLst/>
            <a:ahLst/>
            <a:cxnLst/>
            <a:rect l="l" t="t" r="r" b="b"/>
            <a:pathLst>
              <a:path w="890812" h="870238">
                <a:moveTo>
                  <a:pt x="0" y="0"/>
                </a:moveTo>
                <a:lnTo>
                  <a:pt x="890812" y="0"/>
                </a:lnTo>
                <a:lnTo>
                  <a:pt x="890812" y="870238"/>
                </a:lnTo>
                <a:lnTo>
                  <a:pt x="0" y="870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364"/>
            </a:stretch>
          </a:blipFill>
        </p:spPr>
      </p:sp>
      <p:grpSp>
        <p:nvGrpSpPr>
          <p:cNvPr id="8" name="Group 8"/>
          <p:cNvGrpSpPr/>
          <p:nvPr/>
        </p:nvGrpSpPr>
        <p:grpSpPr>
          <a:xfrm>
            <a:off x="9679200" y="0"/>
            <a:ext cx="8608800" cy="10595117"/>
            <a:chOff x="0" y="0"/>
            <a:chExt cx="11478399" cy="14126822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4"/>
            <a:srcRect t="907" b="907"/>
            <a:stretch>
              <a:fillRect/>
            </a:stretch>
          </p:blipFill>
          <p:spPr>
            <a:xfrm>
              <a:off x="0" y="0"/>
              <a:ext cx="11478399" cy="14126822"/>
            </a:xfrm>
            <a:prstGeom prst="rect">
              <a:avLst/>
            </a:prstGeom>
          </p:spPr>
        </p:pic>
      </p:grpSp>
      <p:sp>
        <p:nvSpPr>
          <p:cNvPr id="10" name="TextBox 10"/>
          <p:cNvSpPr txBox="1"/>
          <p:nvPr/>
        </p:nvSpPr>
        <p:spPr>
          <a:xfrm>
            <a:off x="1966926" y="693476"/>
            <a:ext cx="8183314" cy="8060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497"/>
              </a:lnSpc>
            </a:pPr>
            <a:r>
              <a:rPr lang="en-US" sz="4641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2060252"/>
            <a:ext cx="6960789" cy="1591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068"/>
              </a:lnSpc>
            </a:pPr>
            <a:r>
              <a:rPr lang="en-US" sz="369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CRYPTOCURRENCY MARKETS ARE HIGHLY UNPREDICTABLE AND VOLATILE.</a:t>
            </a:r>
          </a:p>
        </p:txBody>
      </p:sp>
      <p:grpSp>
        <p:nvGrpSpPr>
          <p:cNvPr id="12" name="Group 12"/>
          <p:cNvGrpSpPr/>
          <p:nvPr/>
        </p:nvGrpSpPr>
        <p:grpSpPr>
          <a:xfrm>
            <a:off x="6892794" y="4029252"/>
            <a:ext cx="6787778" cy="5237838"/>
            <a:chOff x="0" y="0"/>
            <a:chExt cx="17279931" cy="13334185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17279931" cy="13334185"/>
            </a:xfrm>
            <a:custGeom>
              <a:avLst/>
              <a:gdLst/>
              <a:ahLst/>
              <a:cxnLst/>
              <a:rect l="l" t="t" r="r" b="b"/>
              <a:pathLst>
                <a:path w="17279931" h="13334185">
                  <a:moveTo>
                    <a:pt x="0" y="0"/>
                  </a:moveTo>
                  <a:lnTo>
                    <a:pt x="17279931" y="0"/>
                  </a:lnTo>
                  <a:lnTo>
                    <a:pt x="17279931" y="13334185"/>
                  </a:lnTo>
                  <a:lnTo>
                    <a:pt x="0" y="13334185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0" y="-57150"/>
              <a:ext cx="17279931" cy="1339133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1028700" y="4566393"/>
            <a:ext cx="6363709" cy="33652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378"/>
              </a:lnSpc>
            </a:pPr>
            <a:r>
              <a:rPr lang="en-US" sz="3980" b="1" spc="159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MANY INVESTORS STRUGGLE TO EVALUATE THE RISK LEVEL OF DIFFERENT CRYPTOCURRENCIES BEFORE INVESTING.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7058650" y="4769519"/>
            <a:ext cx="6456067" cy="3766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85"/>
              </a:lnSpc>
              <a:spcBef>
                <a:spcPct val="0"/>
              </a:spcBef>
            </a:pPr>
            <a:r>
              <a:rPr lang="en-US" sz="3350" spc="134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THERE IS A NEED FOR A SYSTEM THAT CAN ANALYZE CRYPTO PRICE DATA, CALCULATE RISK METRICS, AND PRESENT INSIGHTS VISUALLY TO SUPPORT INFORMED INVESTMENT DECISIONS.</a:t>
            </a:r>
          </a:p>
        </p:txBody>
      </p:sp>
      <p:sp>
        <p:nvSpPr>
          <p:cNvPr id="17" name="Freeform 17"/>
          <p:cNvSpPr/>
          <p:nvPr/>
        </p:nvSpPr>
        <p:spPr>
          <a:xfrm rot="-5041165" flipV="1">
            <a:off x="-4284117" y="952179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1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552566" y="2343186"/>
            <a:ext cx="4031332" cy="1935548"/>
            <a:chOff x="0" y="0"/>
            <a:chExt cx="841932" cy="404234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41932" cy="404234"/>
            </a:xfrm>
            <a:custGeom>
              <a:avLst/>
              <a:gdLst/>
              <a:ahLst/>
              <a:cxnLst/>
              <a:rect l="l" t="t" r="r" b="b"/>
              <a:pathLst>
                <a:path w="841932" h="404234">
                  <a:moveTo>
                    <a:pt x="0" y="0"/>
                  </a:moveTo>
                  <a:lnTo>
                    <a:pt x="841932" y="0"/>
                  </a:lnTo>
                  <a:lnTo>
                    <a:pt x="841932" y="404234"/>
                  </a:lnTo>
                  <a:lnTo>
                    <a:pt x="0" y="404234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841932" cy="46138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1552566" y="4859760"/>
            <a:ext cx="4031332" cy="1847488"/>
            <a:chOff x="0" y="0"/>
            <a:chExt cx="841932" cy="38584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41932" cy="385842"/>
            </a:xfrm>
            <a:custGeom>
              <a:avLst/>
              <a:gdLst/>
              <a:ahLst/>
              <a:cxnLst/>
              <a:rect l="l" t="t" r="r" b="b"/>
              <a:pathLst>
                <a:path w="841932" h="385842">
                  <a:moveTo>
                    <a:pt x="0" y="0"/>
                  </a:moveTo>
                  <a:lnTo>
                    <a:pt x="841932" y="0"/>
                  </a:lnTo>
                  <a:lnTo>
                    <a:pt x="841932" y="385842"/>
                  </a:lnTo>
                  <a:lnTo>
                    <a:pt x="0" y="385842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0" y="-57150"/>
              <a:ext cx="841932" cy="44299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1552566" y="7284217"/>
            <a:ext cx="4031332" cy="1970978"/>
            <a:chOff x="0" y="0"/>
            <a:chExt cx="841932" cy="411633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841932" cy="411633"/>
            </a:xfrm>
            <a:custGeom>
              <a:avLst/>
              <a:gdLst/>
              <a:ahLst/>
              <a:cxnLst/>
              <a:rect l="l" t="t" r="r" b="b"/>
              <a:pathLst>
                <a:path w="841932" h="411633">
                  <a:moveTo>
                    <a:pt x="0" y="0"/>
                  </a:moveTo>
                  <a:lnTo>
                    <a:pt x="841932" y="0"/>
                  </a:lnTo>
                  <a:lnTo>
                    <a:pt x="841932" y="411633"/>
                  </a:lnTo>
                  <a:lnTo>
                    <a:pt x="0" y="411633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57150"/>
              <a:ext cx="841932" cy="46878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1" name="Freeform 11"/>
          <p:cNvSpPr/>
          <p:nvPr/>
        </p:nvSpPr>
        <p:spPr>
          <a:xfrm rot="-1284775" flipV="1">
            <a:off x="15068554" y="-873912"/>
            <a:ext cx="7423928" cy="10365485"/>
          </a:xfrm>
          <a:custGeom>
            <a:avLst/>
            <a:gdLst/>
            <a:ahLst/>
            <a:cxnLst/>
            <a:rect l="l" t="t" r="r" b="b"/>
            <a:pathLst>
              <a:path w="7423928" h="10365485">
                <a:moveTo>
                  <a:pt x="0" y="10365485"/>
                </a:moveTo>
                <a:lnTo>
                  <a:pt x="7423928" y="10365485"/>
                </a:lnTo>
                <a:lnTo>
                  <a:pt x="7423928" y="0"/>
                </a:lnTo>
                <a:lnTo>
                  <a:pt x="0" y="0"/>
                </a:lnTo>
                <a:lnTo>
                  <a:pt x="0" y="1036548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12" name="AutoShape 12"/>
          <p:cNvSpPr/>
          <p:nvPr/>
        </p:nvSpPr>
        <p:spPr>
          <a:xfrm>
            <a:off x="6021425" y="3371409"/>
            <a:ext cx="2139283" cy="0"/>
          </a:xfrm>
          <a:prstGeom prst="line">
            <a:avLst/>
          </a:prstGeom>
          <a:ln w="38100" cap="flat">
            <a:solidFill>
              <a:srgbClr val="F4F4F4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3" name="AutoShape 13"/>
          <p:cNvSpPr/>
          <p:nvPr/>
        </p:nvSpPr>
        <p:spPr>
          <a:xfrm>
            <a:off x="6021425" y="5661862"/>
            <a:ext cx="2139283" cy="0"/>
          </a:xfrm>
          <a:prstGeom prst="line">
            <a:avLst/>
          </a:prstGeom>
          <a:ln w="38100" cap="flat">
            <a:solidFill>
              <a:srgbClr val="F4F4F4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4" name="AutoShape 14"/>
          <p:cNvSpPr/>
          <p:nvPr/>
        </p:nvSpPr>
        <p:spPr>
          <a:xfrm>
            <a:off x="6021425" y="8301261"/>
            <a:ext cx="2139283" cy="0"/>
          </a:xfrm>
          <a:prstGeom prst="line">
            <a:avLst/>
          </a:prstGeom>
          <a:ln w="38100" cap="flat">
            <a:solidFill>
              <a:srgbClr val="F4F4F4"/>
            </a:solidFill>
            <a:prstDash val="solid"/>
            <a:headEnd type="none" w="sm" len="sm"/>
            <a:tailEnd type="arrow" w="med" len="sm"/>
          </a:ln>
        </p:spPr>
      </p:sp>
      <p:sp>
        <p:nvSpPr>
          <p:cNvPr id="15" name="TextBox 15"/>
          <p:cNvSpPr txBox="1"/>
          <p:nvPr/>
        </p:nvSpPr>
        <p:spPr>
          <a:xfrm>
            <a:off x="8957773" y="2592204"/>
            <a:ext cx="7994572" cy="1520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40"/>
              </a:lnSpc>
              <a:spcBef>
                <a:spcPct val="0"/>
              </a:spcBef>
            </a:pPr>
            <a:r>
              <a:rPr lang="en-US" sz="2886" b="1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Analyze cryptocurrency price data to understand market trends and volatility patterns.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957773" y="4593665"/>
            <a:ext cx="8207649" cy="20220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45"/>
              </a:lnSpc>
              <a:spcBef>
                <a:spcPct val="0"/>
              </a:spcBef>
            </a:pPr>
            <a:r>
              <a:rPr lang="en-US" sz="2889" b="1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Calculate financial risk metrics such as volatility, Sharpe ratio, and beta coefficient to measure the risk level of cryptocurrencies.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957773" y="7233028"/>
            <a:ext cx="7803389" cy="20221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41"/>
              </a:lnSpc>
              <a:spcBef>
                <a:spcPct val="0"/>
              </a:spcBef>
            </a:pPr>
            <a:r>
              <a:rPr lang="en-US" sz="2887" b="1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Present insights through interactive dashboards and charts to help users easily compare and understand crypto risk levels.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4947436" y="764095"/>
            <a:ext cx="6789740" cy="7748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119"/>
              </a:lnSpc>
            </a:pPr>
            <a:r>
              <a:rPr lang="en-US" sz="4371" b="1">
                <a:solidFill>
                  <a:srgbClr val="F4F4F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PROJECT OBJECTIVES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2033663" y="2668262"/>
            <a:ext cx="3069138" cy="1048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4"/>
              </a:lnSpc>
              <a:spcBef>
                <a:spcPct val="0"/>
              </a:spcBef>
            </a:pPr>
            <a:r>
              <a:rPr lang="en-US" sz="2960" b="1" spc="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ANALYSIS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932026" y="5183015"/>
            <a:ext cx="3272411" cy="1033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37"/>
              </a:lnSpc>
              <a:spcBef>
                <a:spcPct val="0"/>
              </a:spcBef>
            </a:pPr>
            <a:r>
              <a:rPr lang="en-US" sz="2955" b="1" spc="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RISK EVALUATION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824712" y="7717454"/>
            <a:ext cx="3487039" cy="1048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144"/>
              </a:lnSpc>
              <a:spcBef>
                <a:spcPct val="0"/>
              </a:spcBef>
            </a:pPr>
            <a:r>
              <a:rPr lang="en-US" sz="2960" b="1" spc="82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VISUALIZATION</a:t>
            </a:r>
          </a:p>
        </p:txBody>
      </p:sp>
      <p:sp>
        <p:nvSpPr>
          <p:cNvPr id="22" name="Freeform 22"/>
          <p:cNvSpPr/>
          <p:nvPr/>
        </p:nvSpPr>
        <p:spPr>
          <a:xfrm>
            <a:off x="3776096" y="629592"/>
            <a:ext cx="1096554" cy="1071228"/>
          </a:xfrm>
          <a:custGeom>
            <a:avLst/>
            <a:gdLst/>
            <a:ahLst/>
            <a:cxnLst/>
            <a:rect l="l" t="t" r="r" b="b"/>
            <a:pathLst>
              <a:path w="1096554" h="1071228">
                <a:moveTo>
                  <a:pt x="0" y="0"/>
                </a:moveTo>
                <a:lnTo>
                  <a:pt x="1096554" y="0"/>
                </a:lnTo>
                <a:lnTo>
                  <a:pt x="1096554" y="1071228"/>
                </a:lnTo>
                <a:lnTo>
                  <a:pt x="0" y="10712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364"/>
            </a:stretch>
          </a:blipFill>
        </p:spPr>
      </p:sp>
      <p:sp>
        <p:nvSpPr>
          <p:cNvPr id="23" name="Freeform 23"/>
          <p:cNvSpPr/>
          <p:nvPr/>
        </p:nvSpPr>
        <p:spPr>
          <a:xfrm rot="-2370005" flipV="1">
            <a:off x="-3018172" y="737725"/>
            <a:ext cx="6476728" cy="9042979"/>
          </a:xfrm>
          <a:custGeom>
            <a:avLst/>
            <a:gdLst/>
            <a:ahLst/>
            <a:cxnLst/>
            <a:rect l="l" t="t" r="r" b="b"/>
            <a:pathLst>
              <a:path w="6476728" h="9042979">
                <a:moveTo>
                  <a:pt x="0" y="9042979"/>
                </a:moveTo>
                <a:lnTo>
                  <a:pt x="6476728" y="9042979"/>
                </a:lnTo>
                <a:lnTo>
                  <a:pt x="6476728" y="0"/>
                </a:lnTo>
                <a:lnTo>
                  <a:pt x="0" y="0"/>
                </a:lnTo>
                <a:lnTo>
                  <a:pt x="0" y="9042979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1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28700" y="3433602"/>
            <a:ext cx="2330002" cy="0"/>
          </a:xfrm>
          <a:prstGeom prst="line">
            <a:avLst/>
          </a:prstGeom>
          <a:ln w="38100" cap="flat">
            <a:solidFill>
              <a:srgbClr val="049EE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3" name="Freeform 3"/>
          <p:cNvSpPr/>
          <p:nvPr/>
        </p:nvSpPr>
        <p:spPr>
          <a:xfrm rot="-5400000" flipV="1">
            <a:off x="-7497876" y="645209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905255" y="692876"/>
            <a:ext cx="953952" cy="931920"/>
          </a:xfrm>
          <a:custGeom>
            <a:avLst/>
            <a:gdLst/>
            <a:ahLst/>
            <a:cxnLst/>
            <a:rect l="l" t="t" r="r" b="b"/>
            <a:pathLst>
              <a:path w="953952" h="931920">
                <a:moveTo>
                  <a:pt x="0" y="0"/>
                </a:moveTo>
                <a:lnTo>
                  <a:pt x="953952" y="0"/>
                </a:lnTo>
                <a:lnTo>
                  <a:pt x="953952" y="931920"/>
                </a:lnTo>
                <a:lnTo>
                  <a:pt x="0" y="93192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36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0047055" y="0"/>
            <a:ext cx="8629134" cy="11334859"/>
          </a:xfrm>
          <a:custGeom>
            <a:avLst/>
            <a:gdLst/>
            <a:ahLst/>
            <a:cxnLst/>
            <a:rect l="l" t="t" r="r" b="b"/>
            <a:pathLst>
              <a:path w="8629134" h="11334859">
                <a:moveTo>
                  <a:pt x="0" y="0"/>
                </a:moveTo>
                <a:lnTo>
                  <a:pt x="8629134" y="0"/>
                </a:lnTo>
                <a:lnTo>
                  <a:pt x="8629134" y="11334859"/>
                </a:lnTo>
                <a:lnTo>
                  <a:pt x="0" y="1133485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1546" t="-37158" r="-34357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1980894" y="729742"/>
            <a:ext cx="6478888" cy="75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431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TECHNOLOGIES USED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05255" y="2015321"/>
            <a:ext cx="8362190" cy="1039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52"/>
              </a:lnSpc>
            </a:pPr>
            <a:r>
              <a:rPr lang="en-US" sz="3593" b="1">
                <a:solidFill>
                  <a:srgbClr val="FAFAFA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PROJECT USES THE FOLLOWING TECHNOLOGIES: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81810" y="3746783"/>
            <a:ext cx="8877055" cy="5996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21995" lvl="1" indent="-360680" algn="l">
              <a:lnSpc>
                <a:spcPts val="4683"/>
              </a:lnSpc>
              <a:buFont typeface="Arial"/>
              <a:buChar char="•"/>
            </a:pPr>
            <a:r>
              <a:rPr lang="en-US" sz="334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Python – main programming language</a:t>
            </a:r>
            <a:endParaRPr lang="en-US"/>
          </a:p>
          <a:p>
            <a:pPr marL="721995" lvl="1" indent="-360680" algn="l">
              <a:lnSpc>
                <a:spcPts val="4683"/>
              </a:lnSpc>
              <a:buFont typeface="Arial"/>
              <a:buChar char="•"/>
            </a:pPr>
            <a:r>
              <a:rPr lang="en-US" sz="334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Pandas &amp; NumPy – data processing and analysis</a:t>
            </a:r>
            <a:endParaRPr lang="en-US" sz="3345" b="1">
              <a:solidFill>
                <a:srgbClr val="FFFFFF"/>
              </a:solidFill>
              <a:latin typeface="Poppins Bold"/>
              <a:ea typeface="Poppins Bold"/>
              <a:cs typeface="Poppins Bold"/>
            </a:endParaRPr>
          </a:p>
          <a:p>
            <a:pPr marL="721995" lvl="1" indent="-360680" algn="l">
              <a:lnSpc>
                <a:spcPts val="4683"/>
              </a:lnSpc>
              <a:buFont typeface="Arial"/>
              <a:buChar char="•"/>
            </a:pPr>
            <a:r>
              <a:rPr lang="en-US" sz="3345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Plotly / Matplotlib – data visualization</a:t>
            </a:r>
            <a:endParaRPr lang="en-US" sz="3345" b="1">
              <a:solidFill>
                <a:srgbClr val="FFFFFF"/>
              </a:solidFill>
              <a:latin typeface="Poppins Bold"/>
              <a:ea typeface="Poppins Bold"/>
              <a:cs typeface="Poppins Bold"/>
            </a:endParaRPr>
          </a:p>
          <a:p>
            <a:pPr marL="721995" lvl="1" indent="-360680">
              <a:lnSpc>
                <a:spcPts val="4683"/>
              </a:lnSpc>
              <a:buFont typeface="Arial"/>
              <a:buChar char="•"/>
            </a:pPr>
            <a:r>
              <a:rPr lang="en-US" sz="33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Stream lit</a:t>
            </a:r>
            <a:r>
              <a:rPr lang="en-US" sz="33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– interactive dashboard development</a:t>
            </a:r>
            <a:endParaRPr lang="en-US" sz="3300" b="1" dirty="0">
              <a:solidFill>
                <a:srgbClr val="FFFFFF"/>
              </a:solidFill>
              <a:latin typeface="Poppins Bold"/>
              <a:ea typeface="Poppins Bold"/>
              <a:cs typeface="Poppins Bold"/>
            </a:endParaRPr>
          </a:p>
          <a:p>
            <a:pPr marL="721995" lvl="1" indent="-360680">
              <a:lnSpc>
                <a:spcPts val="4683"/>
              </a:lnSpc>
              <a:buFont typeface="Arial"/>
              <a:buChar char="•"/>
            </a:pPr>
            <a:r>
              <a:rPr lang="en-US" sz="330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Coin Gecko</a:t>
            </a:r>
            <a:r>
              <a:rPr lang="en-US" sz="3300" b="1" dirty="0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/ Binance API – cryptocurrency data fetching</a:t>
            </a:r>
            <a:endParaRPr lang="en-US" sz="3300" b="1" dirty="0">
              <a:solidFill>
                <a:srgbClr val="FFFFFF"/>
              </a:solidFill>
              <a:latin typeface="Poppins Bold"/>
              <a:ea typeface="Poppins Bold"/>
              <a:cs typeface="Poppins Bol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1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7981" y="1607444"/>
            <a:ext cx="1323126" cy="1583025"/>
          </a:xfrm>
          <a:custGeom>
            <a:avLst/>
            <a:gdLst/>
            <a:ahLst/>
            <a:cxnLst/>
            <a:rect l="l" t="t" r="r" b="b"/>
            <a:pathLst>
              <a:path w="1323126" h="1583025">
                <a:moveTo>
                  <a:pt x="0" y="0"/>
                </a:moveTo>
                <a:lnTo>
                  <a:pt x="1323125" y="0"/>
                </a:lnTo>
                <a:lnTo>
                  <a:pt x="1323125" y="1583025"/>
                </a:lnTo>
                <a:lnTo>
                  <a:pt x="0" y="15830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373544" y="3190469"/>
            <a:ext cx="1323126" cy="1583025"/>
          </a:xfrm>
          <a:custGeom>
            <a:avLst/>
            <a:gdLst/>
            <a:ahLst/>
            <a:cxnLst/>
            <a:rect l="l" t="t" r="r" b="b"/>
            <a:pathLst>
              <a:path w="1323126" h="1583025">
                <a:moveTo>
                  <a:pt x="0" y="0"/>
                </a:moveTo>
                <a:lnTo>
                  <a:pt x="1323126" y="0"/>
                </a:lnTo>
                <a:lnTo>
                  <a:pt x="1323126" y="1583026"/>
                </a:lnTo>
                <a:lnTo>
                  <a:pt x="0" y="158302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357981" y="4829317"/>
            <a:ext cx="1338689" cy="1601646"/>
          </a:xfrm>
          <a:custGeom>
            <a:avLst/>
            <a:gdLst/>
            <a:ahLst/>
            <a:cxnLst/>
            <a:rect l="l" t="t" r="r" b="b"/>
            <a:pathLst>
              <a:path w="1338689" h="1601646">
                <a:moveTo>
                  <a:pt x="0" y="0"/>
                </a:moveTo>
                <a:lnTo>
                  <a:pt x="1338689" y="0"/>
                </a:lnTo>
                <a:lnTo>
                  <a:pt x="1338689" y="1601646"/>
                </a:lnTo>
                <a:lnTo>
                  <a:pt x="0" y="160164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1357981" y="6544747"/>
            <a:ext cx="1291999" cy="1545784"/>
          </a:xfrm>
          <a:custGeom>
            <a:avLst/>
            <a:gdLst/>
            <a:ahLst/>
            <a:cxnLst/>
            <a:rect l="l" t="t" r="r" b="b"/>
            <a:pathLst>
              <a:path w="1291999" h="1545784">
                <a:moveTo>
                  <a:pt x="0" y="0"/>
                </a:moveTo>
                <a:lnTo>
                  <a:pt x="1291998" y="0"/>
                </a:lnTo>
                <a:lnTo>
                  <a:pt x="1291998" y="1545784"/>
                </a:lnTo>
                <a:lnTo>
                  <a:pt x="0" y="154578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26854" y="8204831"/>
            <a:ext cx="1323126" cy="1583025"/>
          </a:xfrm>
          <a:custGeom>
            <a:avLst/>
            <a:gdLst/>
            <a:ahLst/>
            <a:cxnLst/>
            <a:rect l="l" t="t" r="r" b="b"/>
            <a:pathLst>
              <a:path w="1323126" h="1583025">
                <a:moveTo>
                  <a:pt x="0" y="0"/>
                </a:moveTo>
                <a:lnTo>
                  <a:pt x="1323125" y="0"/>
                </a:lnTo>
                <a:lnTo>
                  <a:pt x="1323125" y="1583026"/>
                </a:lnTo>
                <a:lnTo>
                  <a:pt x="0" y="158302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4044170" y="601363"/>
            <a:ext cx="11210941" cy="75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431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SYSTEM ARCHITECTURE / WORKFLOW</a:t>
            </a:r>
          </a:p>
        </p:txBody>
      </p:sp>
      <p:sp>
        <p:nvSpPr>
          <p:cNvPr id="8" name="Freeform 8"/>
          <p:cNvSpPr/>
          <p:nvPr/>
        </p:nvSpPr>
        <p:spPr>
          <a:xfrm>
            <a:off x="2821052" y="562740"/>
            <a:ext cx="953952" cy="931920"/>
          </a:xfrm>
          <a:custGeom>
            <a:avLst/>
            <a:gdLst/>
            <a:ahLst/>
            <a:cxnLst/>
            <a:rect l="l" t="t" r="r" b="b"/>
            <a:pathLst>
              <a:path w="953952" h="931920">
                <a:moveTo>
                  <a:pt x="0" y="0"/>
                </a:moveTo>
                <a:lnTo>
                  <a:pt x="953952" y="0"/>
                </a:lnTo>
                <a:lnTo>
                  <a:pt x="953952" y="931920"/>
                </a:lnTo>
                <a:lnTo>
                  <a:pt x="0" y="93192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2364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3298028" y="1840552"/>
            <a:ext cx="12703225" cy="10499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59"/>
              </a:lnSpc>
            </a:pPr>
            <a:r>
              <a:rPr lang="en-US" sz="3328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Collection</a:t>
            </a:r>
          </a:p>
          <a:p>
            <a:pPr algn="l">
              <a:lnSpc>
                <a:spcPts val="3499"/>
              </a:lnSpc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Cryptocurrency price data is fetched from APIs such as CoinGecko or Binance.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298028" y="3376256"/>
            <a:ext cx="9361587" cy="1049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1"/>
              </a:lnSpc>
            </a:pPr>
            <a:r>
              <a:rPr lang="en-US" sz="332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Data Processing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5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collected data is cleaned and processed for analysis.</a:t>
            </a:r>
            <a:endParaRPr lang="en-US" sz="2450" b="1">
              <a:solidFill>
                <a:srgbClr val="FFFFFF"/>
              </a:solidFill>
              <a:latin typeface="Poppins Bold"/>
              <a:ea typeface="Poppins Bold"/>
              <a:cs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3403811" y="5048250"/>
            <a:ext cx="11390858" cy="1049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1"/>
              </a:lnSpc>
            </a:pPr>
            <a:r>
              <a:rPr lang="en-US" sz="332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Risk Analysis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Financial metrics like volatility, Sharpe ratio, and beta are calculated.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3384292" y="6560337"/>
            <a:ext cx="11368570" cy="114274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4661"/>
              </a:lnSpc>
            </a:pPr>
            <a:r>
              <a:rPr lang="en-US" sz="3300" b="1" err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Visualization</a:t>
            </a:r>
            <a:endParaRPr lang="en-US" sz="2450" b="1" err="1">
              <a:solidFill>
                <a:srgbClr val="FFFFFF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4661"/>
              </a:lnSpc>
            </a:pPr>
            <a:r>
              <a:rPr lang="en-US" sz="2450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charts and graphs are created to display insights.</a:t>
            </a:r>
            <a:endParaRPr lang="en-US" sz="2450" b="1">
              <a:solidFill>
                <a:srgbClr val="FFFFFF"/>
              </a:solidFill>
              <a:latin typeface="Poppins Bold"/>
              <a:ea typeface="Poppins Bold"/>
              <a:cs typeface="Poppins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3298028" y="8250937"/>
            <a:ext cx="9754642" cy="104990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61"/>
              </a:lnSpc>
            </a:pPr>
            <a:r>
              <a:rPr lang="en-US" sz="332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Risk Classification</a:t>
            </a:r>
          </a:p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 Cryptocurrencies are categorized based on their risk levels.</a:t>
            </a:r>
          </a:p>
        </p:txBody>
      </p:sp>
      <p:sp>
        <p:nvSpPr>
          <p:cNvPr id="14" name="Freeform 14"/>
          <p:cNvSpPr/>
          <p:nvPr/>
        </p:nvSpPr>
        <p:spPr>
          <a:xfrm flipV="1">
            <a:off x="13050139" y="-571902"/>
            <a:ext cx="10794844" cy="15072046"/>
          </a:xfrm>
          <a:custGeom>
            <a:avLst/>
            <a:gdLst/>
            <a:ahLst/>
            <a:cxnLst/>
            <a:rect l="l" t="t" r="r" b="b"/>
            <a:pathLst>
              <a:path w="10794844" h="15072046">
                <a:moveTo>
                  <a:pt x="0" y="15072045"/>
                </a:moveTo>
                <a:lnTo>
                  <a:pt x="10794844" y="15072045"/>
                </a:lnTo>
                <a:lnTo>
                  <a:pt x="10794844" y="0"/>
                </a:lnTo>
                <a:lnTo>
                  <a:pt x="0" y="0"/>
                </a:lnTo>
                <a:lnTo>
                  <a:pt x="0" y="1507204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1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387447" y="2372937"/>
            <a:ext cx="3382393" cy="3127509"/>
            <a:chOff x="0" y="0"/>
            <a:chExt cx="4509857" cy="4170012"/>
          </a:xfrm>
        </p:grpSpPr>
        <p:pic>
          <p:nvPicPr>
            <p:cNvPr id="3" name="Picture 3"/>
            <p:cNvPicPr>
              <a:picLocks noChangeAspect="1"/>
            </p:cNvPicPr>
            <p:nvPr/>
          </p:nvPicPr>
          <p:blipFill>
            <a:blip r:embed="rId2"/>
            <a:srcRect l="19177" r="19177"/>
            <a:stretch>
              <a:fillRect/>
            </a:stretch>
          </p:blipFill>
          <p:spPr>
            <a:xfrm>
              <a:off x="0" y="0"/>
              <a:ext cx="4509857" cy="4170012"/>
            </a:xfrm>
            <a:prstGeom prst="rect">
              <a:avLst/>
            </a:prstGeom>
          </p:spPr>
        </p:pic>
      </p:grpSp>
      <p:grpSp>
        <p:nvGrpSpPr>
          <p:cNvPr id="4" name="Group 4"/>
          <p:cNvGrpSpPr/>
          <p:nvPr/>
        </p:nvGrpSpPr>
        <p:grpSpPr>
          <a:xfrm>
            <a:off x="387447" y="5904791"/>
            <a:ext cx="3470298" cy="2958441"/>
            <a:chOff x="0" y="0"/>
            <a:chExt cx="4627064" cy="3944588"/>
          </a:xfrm>
        </p:grpSpPr>
        <p:pic>
          <p:nvPicPr>
            <p:cNvPr id="5" name="Picture 5"/>
            <p:cNvPicPr>
              <a:picLocks noChangeAspect="1"/>
            </p:cNvPicPr>
            <p:nvPr/>
          </p:nvPicPr>
          <p:blipFill>
            <a:blip r:embed="rId3"/>
            <a:srcRect l="15909" r="15909"/>
            <a:stretch>
              <a:fillRect/>
            </a:stretch>
          </p:blipFill>
          <p:spPr>
            <a:xfrm>
              <a:off x="0" y="0"/>
              <a:ext cx="4627064" cy="3944588"/>
            </a:xfrm>
            <a:prstGeom prst="rect">
              <a:avLst/>
            </a:prstGeom>
          </p:spPr>
        </p:pic>
      </p:grpSp>
      <p:grpSp>
        <p:nvGrpSpPr>
          <p:cNvPr id="6" name="Group 6"/>
          <p:cNvGrpSpPr/>
          <p:nvPr/>
        </p:nvGrpSpPr>
        <p:grpSpPr>
          <a:xfrm>
            <a:off x="8575466" y="2240016"/>
            <a:ext cx="3730060" cy="3193133"/>
            <a:chOff x="0" y="0"/>
            <a:chExt cx="4973414" cy="4257510"/>
          </a:xfrm>
        </p:grpSpPr>
        <p:pic>
          <p:nvPicPr>
            <p:cNvPr id="7" name="Picture 7"/>
            <p:cNvPicPr>
              <a:picLocks noChangeAspect="1"/>
            </p:cNvPicPr>
            <p:nvPr/>
          </p:nvPicPr>
          <p:blipFill>
            <a:blip r:embed="rId4"/>
            <a:srcRect l="16488" r="16488"/>
            <a:stretch>
              <a:fillRect/>
            </a:stretch>
          </p:blipFill>
          <p:spPr>
            <a:xfrm>
              <a:off x="0" y="0"/>
              <a:ext cx="4973414" cy="4257510"/>
            </a:xfrm>
            <a:prstGeom prst="rect">
              <a:avLst/>
            </a:prstGeom>
          </p:spPr>
        </p:pic>
      </p:grpSp>
      <p:grpSp>
        <p:nvGrpSpPr>
          <p:cNvPr id="8" name="Group 8"/>
          <p:cNvGrpSpPr/>
          <p:nvPr/>
        </p:nvGrpSpPr>
        <p:grpSpPr>
          <a:xfrm>
            <a:off x="8561952" y="5891682"/>
            <a:ext cx="3730060" cy="2984660"/>
            <a:chOff x="0" y="0"/>
            <a:chExt cx="4973414" cy="3979546"/>
          </a:xfrm>
        </p:grpSpPr>
        <p:pic>
          <p:nvPicPr>
            <p:cNvPr id="9" name="Picture 9"/>
            <p:cNvPicPr>
              <a:picLocks noChangeAspect="1"/>
            </p:cNvPicPr>
            <p:nvPr/>
          </p:nvPicPr>
          <p:blipFill>
            <a:blip r:embed="rId5"/>
            <a:srcRect l="14382" r="14382"/>
            <a:stretch>
              <a:fillRect/>
            </a:stretch>
          </p:blipFill>
          <p:spPr>
            <a:xfrm>
              <a:off x="0" y="0"/>
              <a:ext cx="4973414" cy="3979546"/>
            </a:xfrm>
            <a:prstGeom prst="rect">
              <a:avLst/>
            </a:prstGeom>
          </p:spPr>
        </p:pic>
      </p:grpSp>
      <p:sp>
        <p:nvSpPr>
          <p:cNvPr id="10" name="AutoShape 10"/>
          <p:cNvSpPr/>
          <p:nvPr/>
        </p:nvSpPr>
        <p:spPr>
          <a:xfrm>
            <a:off x="4216314" y="2837195"/>
            <a:ext cx="2458847" cy="0"/>
          </a:xfrm>
          <a:prstGeom prst="line">
            <a:avLst/>
          </a:prstGeom>
          <a:ln w="38100" cap="flat">
            <a:solidFill>
              <a:srgbClr val="049EE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1" name="AutoShape 11"/>
          <p:cNvSpPr/>
          <p:nvPr/>
        </p:nvSpPr>
        <p:spPr>
          <a:xfrm>
            <a:off x="4216314" y="6511720"/>
            <a:ext cx="2458847" cy="0"/>
          </a:xfrm>
          <a:prstGeom prst="line">
            <a:avLst/>
          </a:prstGeom>
          <a:ln w="38100" cap="flat">
            <a:solidFill>
              <a:srgbClr val="049EE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" name="Freeform 12"/>
          <p:cNvSpPr/>
          <p:nvPr/>
        </p:nvSpPr>
        <p:spPr>
          <a:xfrm flipV="1">
            <a:off x="14178802" y="-2182089"/>
            <a:ext cx="9536193" cy="13314685"/>
          </a:xfrm>
          <a:custGeom>
            <a:avLst/>
            <a:gdLst/>
            <a:ahLst/>
            <a:cxnLst/>
            <a:rect l="l" t="t" r="r" b="b"/>
            <a:pathLst>
              <a:path w="9536193" h="13314685">
                <a:moveTo>
                  <a:pt x="0" y="13314685"/>
                </a:moveTo>
                <a:lnTo>
                  <a:pt x="9536193" y="13314685"/>
                </a:lnTo>
                <a:lnTo>
                  <a:pt x="9536193" y="0"/>
                </a:lnTo>
                <a:lnTo>
                  <a:pt x="0" y="0"/>
                </a:lnTo>
                <a:lnTo>
                  <a:pt x="0" y="1331468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3" name="AutoShape 13"/>
          <p:cNvSpPr/>
          <p:nvPr/>
        </p:nvSpPr>
        <p:spPr>
          <a:xfrm>
            <a:off x="12706144" y="2857871"/>
            <a:ext cx="2458847" cy="0"/>
          </a:xfrm>
          <a:prstGeom prst="line">
            <a:avLst/>
          </a:prstGeom>
          <a:ln w="38100" cap="flat">
            <a:solidFill>
              <a:srgbClr val="049EE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4" name="AutoShape 14"/>
          <p:cNvSpPr/>
          <p:nvPr/>
        </p:nvSpPr>
        <p:spPr>
          <a:xfrm>
            <a:off x="12706144" y="6492670"/>
            <a:ext cx="2458847" cy="0"/>
          </a:xfrm>
          <a:prstGeom prst="line">
            <a:avLst/>
          </a:prstGeom>
          <a:ln w="38100" cap="flat">
            <a:solidFill>
              <a:srgbClr val="049EE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5" name="Freeform 15"/>
          <p:cNvSpPr/>
          <p:nvPr/>
        </p:nvSpPr>
        <p:spPr>
          <a:xfrm>
            <a:off x="1347258" y="831329"/>
            <a:ext cx="814742" cy="795925"/>
          </a:xfrm>
          <a:custGeom>
            <a:avLst/>
            <a:gdLst/>
            <a:ahLst/>
            <a:cxnLst/>
            <a:rect l="l" t="t" r="r" b="b"/>
            <a:pathLst>
              <a:path w="814742" h="795925">
                <a:moveTo>
                  <a:pt x="0" y="0"/>
                </a:moveTo>
                <a:lnTo>
                  <a:pt x="814742" y="0"/>
                </a:lnTo>
                <a:lnTo>
                  <a:pt x="814742" y="795924"/>
                </a:lnTo>
                <a:lnTo>
                  <a:pt x="0" y="795924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b="-2364"/>
            </a:stretch>
          </a:blipFill>
        </p:spPr>
      </p:sp>
      <p:sp>
        <p:nvSpPr>
          <p:cNvPr id="16" name="TextBox 16"/>
          <p:cNvSpPr txBox="1"/>
          <p:nvPr/>
        </p:nvSpPr>
        <p:spPr>
          <a:xfrm>
            <a:off x="2460524" y="873840"/>
            <a:ext cx="8438329" cy="7534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034"/>
              </a:lnSpc>
            </a:pPr>
            <a:r>
              <a:rPr lang="en-US" sz="4310" b="1">
                <a:solidFill>
                  <a:srgbClr val="F4F4F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MODULES OF THE SYSTEM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4007181" y="3112608"/>
            <a:ext cx="4412179" cy="21304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Fetches live and historical cryptocurrency data from APIs.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Stores the data for further analysis.</a:t>
            </a: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F4F4F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8" name="TextBox 18"/>
          <p:cNvSpPr txBox="1"/>
          <p:nvPr/>
        </p:nvSpPr>
        <p:spPr>
          <a:xfrm>
            <a:off x="4007181" y="6749845"/>
            <a:ext cx="3685985" cy="2473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Calculates daily returns and statistical measures.</a:t>
            </a:r>
          </a:p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Processes data for volatility and risk analysis.</a:t>
            </a:r>
          </a:p>
          <a:p>
            <a:pPr marL="0" lvl="0" indent="0" algn="l">
              <a:lnSpc>
                <a:spcPts val="2799"/>
              </a:lnSpc>
              <a:spcBef>
                <a:spcPct val="0"/>
              </a:spcBef>
            </a:pPr>
            <a:endParaRPr lang="en-US" sz="1999" b="1">
              <a:solidFill>
                <a:srgbClr val="F4F4F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9" name="TextBox 19"/>
          <p:cNvSpPr txBox="1"/>
          <p:nvPr/>
        </p:nvSpPr>
        <p:spPr>
          <a:xfrm>
            <a:off x="12461632" y="3076946"/>
            <a:ext cx="3685985" cy="10636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799" lvl="1" indent="-215899" algn="l">
              <a:lnSpc>
                <a:spcPts val="2799"/>
              </a:lnSpc>
              <a:buFont typeface="Arial"/>
              <a:buChar char="•"/>
            </a:pPr>
            <a:r>
              <a:rPr lang="en-US" sz="1999" b="1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Creates graphs and charts to display trends and patterns.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12461632" y="6702220"/>
            <a:ext cx="3685985" cy="24828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Classifies cryptocurrencies based on calculated risk metrics.</a:t>
            </a:r>
          </a:p>
          <a:p>
            <a:pPr marL="431801" lvl="1" indent="-215900" algn="l">
              <a:lnSpc>
                <a:spcPts val="2800"/>
              </a:lnSpc>
              <a:buFont typeface="Arial"/>
              <a:buChar char="•"/>
            </a:pPr>
            <a:r>
              <a:rPr lang="en-US" sz="2000" b="1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Generates summarized reports.</a:t>
            </a:r>
          </a:p>
          <a:p>
            <a:pPr marL="0" lvl="0" indent="0" algn="l">
              <a:lnSpc>
                <a:spcPts val="2800"/>
              </a:lnSpc>
              <a:spcBef>
                <a:spcPct val="0"/>
              </a:spcBef>
            </a:pPr>
            <a:endParaRPr lang="en-US" sz="2000" b="1">
              <a:solidFill>
                <a:srgbClr val="F4F4F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21" name="TextBox 21"/>
          <p:cNvSpPr txBox="1"/>
          <p:nvPr/>
        </p:nvSpPr>
        <p:spPr>
          <a:xfrm>
            <a:off x="4216314" y="2144766"/>
            <a:ext cx="3993912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1. Data Acquisition Module</a:t>
            </a:r>
          </a:p>
        </p:txBody>
      </p:sp>
      <p:sp>
        <p:nvSpPr>
          <p:cNvPr id="22" name="TextBox 22"/>
          <p:cNvSpPr txBox="1"/>
          <p:nvPr/>
        </p:nvSpPr>
        <p:spPr>
          <a:xfrm>
            <a:off x="4216314" y="5508920"/>
            <a:ext cx="3685985" cy="79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2. Data Processing Module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2706144" y="2182866"/>
            <a:ext cx="3551551" cy="3987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3. Visualization Module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2706144" y="5417615"/>
            <a:ext cx="3299907" cy="798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220"/>
              </a:lnSpc>
              <a:spcBef>
                <a:spcPct val="0"/>
              </a:spcBef>
            </a:pPr>
            <a:r>
              <a:rPr lang="en-US" sz="2300" b="1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4. Risk Classification &amp; Reporting Module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1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09185" flipV="1">
            <a:off x="12882847" y="-1515692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35780" y="158462"/>
            <a:ext cx="890812" cy="870238"/>
          </a:xfrm>
          <a:custGeom>
            <a:avLst/>
            <a:gdLst/>
            <a:ahLst/>
            <a:cxnLst/>
            <a:rect l="l" t="t" r="r" b="b"/>
            <a:pathLst>
              <a:path w="890812" h="870238">
                <a:moveTo>
                  <a:pt x="0" y="0"/>
                </a:moveTo>
                <a:lnTo>
                  <a:pt x="890812" y="0"/>
                </a:lnTo>
                <a:lnTo>
                  <a:pt x="890812" y="870238"/>
                </a:lnTo>
                <a:lnTo>
                  <a:pt x="0" y="870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36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059938"/>
            <a:ext cx="7457052" cy="394286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05392" lvl="1" indent="-252696" algn="l">
              <a:lnSpc>
                <a:spcPts val="3487"/>
              </a:lnSpc>
              <a:buFont typeface="Arial"/>
              <a:buChar char="•"/>
            </a:pPr>
            <a:r>
              <a:rPr lang="en-US" sz="2340" b="1" spc="79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Set up the project environment with required libraries (Pandas, NumPy, Requests, Plotly, Dash).</a:t>
            </a:r>
          </a:p>
          <a:p>
            <a:pPr marL="505392" lvl="1" indent="-252696" algn="l">
              <a:lnSpc>
                <a:spcPts val="3487"/>
              </a:lnSpc>
              <a:buFont typeface="Arial"/>
              <a:buChar char="•"/>
            </a:pPr>
            <a:r>
              <a:rPr lang="en-US" sz="2340" b="1" spc="79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 Integrate cryptocurrency APIs (Binance/CoinGecko) to fetch price data.</a:t>
            </a:r>
          </a:p>
          <a:p>
            <a:pPr marL="505392" lvl="1" indent="-252696" algn="l">
              <a:lnSpc>
                <a:spcPts val="3487"/>
              </a:lnSpc>
              <a:buFont typeface="Arial"/>
              <a:buChar char="•"/>
            </a:pPr>
            <a:r>
              <a:rPr lang="en-US" sz="2340" b="1" spc="79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 Store the data in CSV format for analysis.</a:t>
            </a:r>
          </a:p>
          <a:p>
            <a:pPr marL="505392" lvl="1" indent="-252696" algn="l">
              <a:lnSpc>
                <a:spcPts val="3487"/>
              </a:lnSpc>
              <a:buFont typeface="Arial"/>
              <a:buChar char="•"/>
            </a:pPr>
            <a:r>
              <a:rPr lang="en-US" sz="2340" b="1" spc="79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 Perform basic preprocessing, including handling missing values and formatting time-series data.</a:t>
            </a:r>
          </a:p>
        </p:txBody>
      </p:sp>
      <p:sp>
        <p:nvSpPr>
          <p:cNvPr id="5" name="Freeform 5"/>
          <p:cNvSpPr/>
          <p:nvPr/>
        </p:nvSpPr>
        <p:spPr>
          <a:xfrm rot="404286" flipV="1">
            <a:off x="-9244297" y="-1295728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9337338" y="1299511"/>
            <a:ext cx="6514709" cy="4329448"/>
          </a:xfrm>
          <a:custGeom>
            <a:avLst/>
            <a:gdLst/>
            <a:ahLst/>
            <a:cxnLst/>
            <a:rect l="l" t="t" r="r" b="b"/>
            <a:pathLst>
              <a:path w="6514709" h="4329448">
                <a:moveTo>
                  <a:pt x="0" y="0"/>
                </a:moveTo>
                <a:lnTo>
                  <a:pt x="6514708" y="0"/>
                </a:lnTo>
                <a:lnTo>
                  <a:pt x="6514708" y="4329448"/>
                </a:lnTo>
                <a:lnTo>
                  <a:pt x="0" y="43294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r="-5486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9337338" y="5848923"/>
            <a:ext cx="6514709" cy="4038083"/>
          </a:xfrm>
          <a:custGeom>
            <a:avLst/>
            <a:gdLst/>
            <a:ahLst/>
            <a:cxnLst/>
            <a:rect l="l" t="t" r="r" b="b"/>
            <a:pathLst>
              <a:path w="6514709" h="4038083">
                <a:moveTo>
                  <a:pt x="0" y="0"/>
                </a:moveTo>
                <a:lnTo>
                  <a:pt x="6514708" y="0"/>
                </a:lnTo>
                <a:lnTo>
                  <a:pt x="6514708" y="4038083"/>
                </a:lnTo>
                <a:lnTo>
                  <a:pt x="0" y="403808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39" r="-239" b="-1923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388218" y="201136"/>
            <a:ext cx="11050900" cy="68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sz="3798" b="1" spc="14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1 – DATA ACQUISITION &amp; SETUP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464154" y="1194736"/>
            <a:ext cx="4343730" cy="68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sz="3798" b="1" spc="140">
                <a:solidFill>
                  <a:srgbClr val="55A6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REQUIREMENTS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464154" y="6254448"/>
            <a:ext cx="2944689" cy="68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sz="3798" b="1" spc="140">
                <a:solidFill>
                  <a:srgbClr val="55A6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28700" y="7195738"/>
            <a:ext cx="7272470" cy="258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2882" lvl="1" indent="-246441" algn="l">
              <a:lnSpc>
                <a:spcPts val="3401"/>
              </a:lnSpc>
              <a:buFont typeface="Arial"/>
              <a:buChar char="•"/>
            </a:pPr>
            <a:r>
              <a:rPr lang="en-US" sz="2282" b="1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Successfully collected and stored daily price data for at least 5 cryptocurrencies (BTC, ETH, SOL, ADA, DOGE).</a:t>
            </a:r>
          </a:p>
          <a:p>
            <a:pPr marL="492882" lvl="1" indent="-246441" algn="l">
              <a:lnSpc>
                <a:spcPts val="3401"/>
              </a:lnSpc>
              <a:buFont typeface="Arial"/>
              <a:buChar char="•"/>
            </a:pPr>
            <a:r>
              <a:rPr lang="en-US" sz="2282" b="1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Confirmed API connectivity and data consistency for reliable analysis.</a:t>
            </a:r>
          </a:p>
          <a:p>
            <a:pPr algn="l">
              <a:lnSpc>
                <a:spcPts val="3401"/>
              </a:lnSpc>
            </a:pPr>
            <a:endParaRPr lang="en-US" sz="2282" b="1" spc="77">
              <a:solidFill>
                <a:srgbClr val="F4F4F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1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-409185" flipV="1">
            <a:off x="14061060" y="-2441841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29" y="14289302"/>
                </a:lnTo>
                <a:lnTo>
                  <a:pt x="10234229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2135780" y="158462"/>
            <a:ext cx="890812" cy="870238"/>
          </a:xfrm>
          <a:custGeom>
            <a:avLst/>
            <a:gdLst/>
            <a:ahLst/>
            <a:cxnLst/>
            <a:rect l="l" t="t" r="r" b="b"/>
            <a:pathLst>
              <a:path w="890812" h="870238">
                <a:moveTo>
                  <a:pt x="0" y="0"/>
                </a:moveTo>
                <a:lnTo>
                  <a:pt x="890812" y="0"/>
                </a:lnTo>
                <a:lnTo>
                  <a:pt x="890812" y="870238"/>
                </a:lnTo>
                <a:lnTo>
                  <a:pt x="0" y="87023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36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326662"/>
            <a:ext cx="7272470" cy="3440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2882" lvl="1" indent="-246441" algn="l">
              <a:lnSpc>
                <a:spcPts val="3401"/>
              </a:lnSpc>
              <a:buFont typeface="Arial"/>
              <a:buChar char="•"/>
            </a:pPr>
            <a:r>
              <a:rPr lang="en-US" sz="2282" b="1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Calculate daily returns using log-return formulas.</a:t>
            </a:r>
          </a:p>
          <a:p>
            <a:pPr marL="492882" lvl="1" indent="-246441" algn="l">
              <a:lnSpc>
                <a:spcPts val="3401"/>
              </a:lnSpc>
              <a:buFont typeface="Arial"/>
              <a:buChar char="•"/>
            </a:pPr>
            <a:r>
              <a:rPr lang="en-US" sz="2282" b="1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Compute statistical measures such as:</a:t>
            </a:r>
          </a:p>
          <a:p>
            <a:pPr marL="492882" lvl="1" indent="-246441" algn="l">
              <a:lnSpc>
                <a:spcPts val="3401"/>
              </a:lnSpc>
              <a:buFont typeface="Arial"/>
              <a:buChar char="•"/>
            </a:pPr>
            <a:r>
              <a:rPr lang="en-US" sz="2282" b="1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Daily and Annualized Volatility</a:t>
            </a:r>
          </a:p>
          <a:p>
            <a:pPr marL="492882" lvl="1" indent="-246441" algn="l">
              <a:lnSpc>
                <a:spcPts val="3401"/>
              </a:lnSpc>
              <a:buFont typeface="Arial"/>
              <a:buChar char="•"/>
            </a:pPr>
            <a:r>
              <a:rPr lang="en-US" sz="2282" b="1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Sharpe Ratio and Beta Coefficient </a:t>
            </a:r>
          </a:p>
          <a:p>
            <a:pPr marL="492882" lvl="1" indent="-246441" algn="l">
              <a:lnSpc>
                <a:spcPts val="3401"/>
              </a:lnSpc>
              <a:buFont typeface="Arial"/>
              <a:buChar char="•"/>
            </a:pPr>
            <a:r>
              <a:rPr lang="en-US" sz="2282" b="1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Apply moving average and rolling window analysis to track volatility over time.</a:t>
            </a:r>
          </a:p>
          <a:p>
            <a:pPr algn="l">
              <a:lnSpc>
                <a:spcPts val="3401"/>
              </a:lnSpc>
            </a:pPr>
            <a:endParaRPr lang="en-US" sz="2282" b="1" spc="77">
              <a:solidFill>
                <a:srgbClr val="F4F4F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5" name="Freeform 5"/>
          <p:cNvSpPr/>
          <p:nvPr/>
        </p:nvSpPr>
        <p:spPr>
          <a:xfrm rot="404286" flipV="1">
            <a:off x="-9215722" y="-1295728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11417" y="5612872"/>
            <a:ext cx="7107035" cy="4210987"/>
          </a:xfrm>
          <a:custGeom>
            <a:avLst/>
            <a:gdLst/>
            <a:ahLst/>
            <a:cxnLst/>
            <a:rect l="l" t="t" r="r" b="b"/>
            <a:pathLst>
              <a:path w="7107035" h="4210987">
                <a:moveTo>
                  <a:pt x="0" y="0"/>
                </a:moveTo>
                <a:lnTo>
                  <a:pt x="7107035" y="0"/>
                </a:lnTo>
                <a:lnTo>
                  <a:pt x="7107035" y="4210986"/>
                </a:lnTo>
                <a:lnTo>
                  <a:pt x="0" y="421098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3163" b="-3163"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8763094" y="5143500"/>
            <a:ext cx="8667330" cy="4680358"/>
          </a:xfrm>
          <a:custGeom>
            <a:avLst/>
            <a:gdLst/>
            <a:ahLst/>
            <a:cxnLst/>
            <a:rect l="l" t="t" r="r" b="b"/>
            <a:pathLst>
              <a:path w="8667330" h="4680358">
                <a:moveTo>
                  <a:pt x="0" y="0"/>
                </a:moveTo>
                <a:lnTo>
                  <a:pt x="8667330" y="0"/>
                </a:lnTo>
                <a:lnTo>
                  <a:pt x="8667330" y="4680358"/>
                </a:lnTo>
                <a:lnTo>
                  <a:pt x="0" y="46803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204575" y="201136"/>
            <a:ext cx="12840850" cy="68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sz="3798" b="1" spc="14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2 – DATA PROCESSING &amp; CALCULATION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320135" y="1484641"/>
            <a:ext cx="4343730" cy="68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sz="3798" b="1" spc="140">
                <a:solidFill>
                  <a:srgbClr val="55A6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REQUIREMENTS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144000" y="2349046"/>
            <a:ext cx="7272470" cy="25829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2882" lvl="1" indent="-246441" algn="l">
              <a:lnSpc>
                <a:spcPts val="3401"/>
              </a:lnSpc>
              <a:buFont typeface="Arial"/>
              <a:buChar char="•"/>
            </a:pPr>
            <a:r>
              <a:rPr lang="en-US" sz="2282" b="1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Generated a metrics table containing volatility, Sharpe ratio, and beta values for selected cryptocurrencies.</a:t>
            </a:r>
          </a:p>
          <a:p>
            <a:pPr marL="492882" lvl="1" indent="-246441" algn="l">
              <a:lnSpc>
                <a:spcPts val="3401"/>
              </a:lnSpc>
              <a:buFont typeface="Arial"/>
              <a:buChar char="•"/>
            </a:pPr>
            <a:r>
              <a:rPr lang="en-US" sz="2282" b="1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Prepared a processed dataset ready for visualization and risk classification.</a:t>
            </a:r>
          </a:p>
          <a:p>
            <a:pPr algn="l">
              <a:lnSpc>
                <a:spcPts val="3401"/>
              </a:lnSpc>
            </a:pPr>
            <a:endParaRPr lang="en-US" sz="2282" b="1" spc="77">
              <a:solidFill>
                <a:srgbClr val="F4F4F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11" name="TextBox 11"/>
          <p:cNvSpPr txBox="1"/>
          <p:nvPr/>
        </p:nvSpPr>
        <p:spPr>
          <a:xfrm>
            <a:off x="9409587" y="1484641"/>
            <a:ext cx="2389187" cy="68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sz="3798" b="1" spc="140">
                <a:solidFill>
                  <a:srgbClr val="55A6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1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9234092" y="1354064"/>
            <a:ext cx="8349086" cy="4894794"/>
            <a:chOff x="0" y="0"/>
            <a:chExt cx="2373644" cy="139158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2373644" cy="1391589"/>
            </a:xfrm>
            <a:custGeom>
              <a:avLst/>
              <a:gdLst/>
              <a:ahLst/>
              <a:cxnLst/>
              <a:rect l="l" t="t" r="r" b="b"/>
              <a:pathLst>
                <a:path w="2373644" h="1391589">
                  <a:moveTo>
                    <a:pt x="0" y="0"/>
                  </a:moveTo>
                  <a:lnTo>
                    <a:pt x="2373644" y="0"/>
                  </a:lnTo>
                  <a:lnTo>
                    <a:pt x="2373644" y="1391589"/>
                  </a:lnTo>
                  <a:lnTo>
                    <a:pt x="0" y="1391589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57150"/>
              <a:ext cx="2373644" cy="144873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9565924" y="1604040"/>
            <a:ext cx="7693376" cy="4394841"/>
          </a:xfrm>
          <a:custGeom>
            <a:avLst/>
            <a:gdLst/>
            <a:ahLst/>
            <a:cxnLst/>
            <a:rect l="l" t="t" r="r" b="b"/>
            <a:pathLst>
              <a:path w="7693376" h="4394841">
                <a:moveTo>
                  <a:pt x="0" y="0"/>
                </a:moveTo>
                <a:lnTo>
                  <a:pt x="7693376" y="0"/>
                </a:lnTo>
                <a:lnTo>
                  <a:pt x="7693376" y="4394841"/>
                </a:lnTo>
                <a:lnTo>
                  <a:pt x="0" y="439484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212526" y="6443632"/>
            <a:ext cx="2872262" cy="6238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8"/>
              </a:lnSpc>
              <a:spcBef>
                <a:spcPct val="0"/>
              </a:spcBef>
            </a:pPr>
            <a:r>
              <a:rPr lang="en-US" sz="3798" b="1" spc="140">
                <a:solidFill>
                  <a:srgbClr val="55A6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9390890" y="7237458"/>
            <a:ext cx="7272470" cy="429742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2882" lvl="1" indent="-246441" algn="l">
              <a:lnSpc>
                <a:spcPts val="3401"/>
              </a:lnSpc>
              <a:buFont typeface="Arial"/>
              <a:buChar char="•"/>
            </a:pPr>
            <a:r>
              <a:rPr lang="en-US" sz="2282" b="1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Developed an interactive dashboard showing volatility and Sharpe ratio for different cryptocurrencies.</a:t>
            </a:r>
          </a:p>
          <a:p>
            <a:pPr marL="492882" lvl="1" indent="-246441" algn="l">
              <a:lnSpc>
                <a:spcPts val="3401"/>
              </a:lnSpc>
              <a:buFont typeface="Arial"/>
              <a:buChar char="•"/>
            </a:pPr>
            <a:r>
              <a:rPr lang="en-US" sz="2282" b="1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Built a responsive interface that allows users to select date ranges and compare assets easily.</a:t>
            </a:r>
          </a:p>
          <a:p>
            <a:pPr algn="l">
              <a:lnSpc>
                <a:spcPts val="3401"/>
              </a:lnSpc>
            </a:pPr>
            <a:endParaRPr lang="en-US" sz="2282" b="1" spc="77">
              <a:solidFill>
                <a:srgbClr val="F4F4F4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401"/>
              </a:lnSpc>
            </a:pPr>
            <a:endParaRPr lang="en-US" sz="2282" b="1" spc="77">
              <a:solidFill>
                <a:srgbClr val="F4F4F4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401"/>
              </a:lnSpc>
            </a:pPr>
            <a:endParaRPr lang="en-US" sz="2282" b="1" spc="77">
              <a:solidFill>
                <a:srgbClr val="F4F4F4"/>
              </a:solidFill>
              <a:latin typeface="Poppins Bold"/>
              <a:ea typeface="Poppins Bold"/>
              <a:cs typeface="Poppins Bold"/>
              <a:sym typeface="Poppins Bold"/>
            </a:endParaRPr>
          </a:p>
          <a:p>
            <a:pPr algn="l">
              <a:lnSpc>
                <a:spcPts val="3401"/>
              </a:lnSpc>
            </a:pPr>
            <a:endParaRPr lang="en-US" sz="2282" b="1" spc="77">
              <a:solidFill>
                <a:srgbClr val="F4F4F4"/>
              </a:solidFill>
              <a:latin typeface="Poppins Bold"/>
              <a:ea typeface="Poppins Bold"/>
              <a:cs typeface="Poppins Bold"/>
              <a:sym typeface="Poppins Bold"/>
            </a:endParaRPr>
          </a:p>
        </p:txBody>
      </p:sp>
      <p:sp>
        <p:nvSpPr>
          <p:cNvPr id="8" name="Freeform 8"/>
          <p:cNvSpPr/>
          <p:nvPr/>
        </p:nvSpPr>
        <p:spPr>
          <a:xfrm rot="8959290" flipV="1">
            <a:off x="-7296727" y="-2838789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29" y="14289302"/>
                </a:lnTo>
                <a:lnTo>
                  <a:pt x="10234229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986610" y="1115221"/>
            <a:ext cx="4343730" cy="68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sz="3798" b="1" spc="140">
                <a:solidFill>
                  <a:srgbClr val="55A6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REQUIREMENTS</a:t>
            </a:r>
          </a:p>
        </p:txBody>
      </p:sp>
      <p:sp>
        <p:nvSpPr>
          <p:cNvPr id="10" name="Freeform 10"/>
          <p:cNvSpPr/>
          <p:nvPr/>
        </p:nvSpPr>
        <p:spPr>
          <a:xfrm>
            <a:off x="380874" y="241092"/>
            <a:ext cx="814742" cy="795925"/>
          </a:xfrm>
          <a:custGeom>
            <a:avLst/>
            <a:gdLst/>
            <a:ahLst/>
            <a:cxnLst/>
            <a:rect l="l" t="t" r="r" b="b"/>
            <a:pathLst>
              <a:path w="814742" h="795925">
                <a:moveTo>
                  <a:pt x="0" y="0"/>
                </a:moveTo>
                <a:lnTo>
                  <a:pt x="814742" y="0"/>
                </a:lnTo>
                <a:lnTo>
                  <a:pt x="814742" y="795925"/>
                </a:lnTo>
                <a:lnTo>
                  <a:pt x="0" y="79592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b="-2364"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1394051" y="246610"/>
            <a:ext cx="15680082" cy="680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8"/>
              </a:lnSpc>
            </a:pPr>
            <a:r>
              <a:rPr lang="en-US" sz="3798" b="1" spc="140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3 – VISUALIZATION &amp; DASHBOARD DEVELOPMENT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28700" y="1883065"/>
            <a:ext cx="7272470" cy="3011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92882" lvl="1" indent="-246441" algn="l">
              <a:lnSpc>
                <a:spcPts val="3401"/>
              </a:lnSpc>
              <a:buFont typeface="Arial"/>
              <a:buChar char="•"/>
            </a:pPr>
            <a:r>
              <a:rPr lang="en-US" sz="2282" b="1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Create interactive visualizations using Plotly or Matplotlib.</a:t>
            </a:r>
          </a:p>
          <a:p>
            <a:pPr marL="492882" lvl="1" indent="-246441" algn="l">
              <a:lnSpc>
                <a:spcPts val="3401"/>
              </a:lnSpc>
              <a:buFont typeface="Arial"/>
              <a:buChar char="•"/>
            </a:pPr>
            <a:r>
              <a:rPr lang="en-US" sz="2282" b="1" spc="77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 Develop a dashboard (Streamlit/Dash) to display time-series price and volatility graphs, risk–return scatter plots, and enable comparison and filtering of cryptocurrencies.</a:t>
            </a:r>
          </a:p>
        </p:txBody>
      </p:sp>
      <p:sp>
        <p:nvSpPr>
          <p:cNvPr id="13" name="Freeform 13"/>
          <p:cNvSpPr/>
          <p:nvPr/>
        </p:nvSpPr>
        <p:spPr>
          <a:xfrm rot="10220790" flipV="1">
            <a:off x="13911554" y="-1145770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664800" y="5355042"/>
            <a:ext cx="7636370" cy="4305708"/>
            <a:chOff x="0" y="0"/>
            <a:chExt cx="2171019" cy="1224112"/>
          </a:xfrm>
        </p:grpSpPr>
        <p:sp>
          <p:nvSpPr>
            <p:cNvPr id="15" name="Freeform 15"/>
            <p:cNvSpPr/>
            <p:nvPr/>
          </p:nvSpPr>
          <p:spPr>
            <a:xfrm>
              <a:off x="0" y="0"/>
              <a:ext cx="2171019" cy="1224112"/>
            </a:xfrm>
            <a:custGeom>
              <a:avLst/>
              <a:gdLst/>
              <a:ahLst/>
              <a:cxnLst/>
              <a:rect l="l" t="t" r="r" b="b"/>
              <a:pathLst>
                <a:path w="2171019" h="1224112">
                  <a:moveTo>
                    <a:pt x="0" y="0"/>
                  </a:moveTo>
                  <a:lnTo>
                    <a:pt x="2171019" y="0"/>
                  </a:lnTo>
                  <a:lnTo>
                    <a:pt x="2171019" y="1224112"/>
                  </a:lnTo>
                  <a:lnTo>
                    <a:pt x="0" y="1224112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id="16" name="TextBox 16"/>
            <p:cNvSpPr txBox="1"/>
            <p:nvPr/>
          </p:nvSpPr>
          <p:spPr>
            <a:xfrm>
              <a:off x="0" y="-57150"/>
              <a:ext cx="2171019" cy="128126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7" name="Freeform 17"/>
          <p:cNvSpPr/>
          <p:nvPr/>
        </p:nvSpPr>
        <p:spPr>
          <a:xfrm>
            <a:off x="986610" y="5695085"/>
            <a:ext cx="6968690" cy="3646195"/>
          </a:xfrm>
          <a:custGeom>
            <a:avLst/>
            <a:gdLst/>
            <a:ahLst/>
            <a:cxnLst/>
            <a:rect l="l" t="t" r="r" b="b"/>
            <a:pathLst>
              <a:path w="6968690" h="3646195">
                <a:moveTo>
                  <a:pt x="0" y="0"/>
                </a:moveTo>
                <a:lnTo>
                  <a:pt x="6968690" y="0"/>
                </a:lnTo>
                <a:lnTo>
                  <a:pt x="6968690" y="3646195"/>
                </a:lnTo>
                <a:lnTo>
                  <a:pt x="0" y="36461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357" r="-357" b="-5628"/>
            </a:stretch>
          </a:blipFill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1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6604997"/>
            <a:ext cx="8014963" cy="3082829"/>
            <a:chOff x="0" y="0"/>
            <a:chExt cx="18558428" cy="7138205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8558428" cy="7138205"/>
            </a:xfrm>
            <a:custGeom>
              <a:avLst/>
              <a:gdLst/>
              <a:ahLst/>
              <a:cxnLst/>
              <a:rect l="l" t="t" r="r" b="b"/>
              <a:pathLst>
                <a:path w="18558428" h="7138205">
                  <a:moveTo>
                    <a:pt x="0" y="0"/>
                  </a:moveTo>
                  <a:lnTo>
                    <a:pt x="18558428" y="0"/>
                  </a:lnTo>
                  <a:lnTo>
                    <a:pt x="18558428" y="7138205"/>
                  </a:lnTo>
                  <a:lnTo>
                    <a:pt x="0" y="7138205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28575"/>
              <a:ext cx="18558428" cy="716678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388620" lvl="1" indent="-194310" algn="l">
                <a:lnSpc>
                  <a:spcPts val="2520"/>
                </a:lnSpc>
                <a:buFont typeface="Arial"/>
                <a:buChar char="•"/>
              </a:pPr>
              <a:r>
                <a:rPr lang="en-US" sz="1800" b="1" spc="540">
                  <a:solidFill>
                    <a:srgbClr val="F4F4F4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COMPLETED CRYPTO VOLATILITY AND RISK ANALYZER DASHBOARD.</a:t>
              </a:r>
            </a:p>
            <a:p>
              <a:pPr marL="388620" lvl="1" indent="-194310" algn="l">
                <a:lnSpc>
                  <a:spcPts val="2520"/>
                </a:lnSpc>
                <a:buFont typeface="Arial"/>
                <a:buChar char="•"/>
              </a:pPr>
              <a:r>
                <a:rPr lang="en-US" sz="1800" b="1" spc="540">
                  <a:solidFill>
                    <a:srgbClr val="F4F4F4"/>
                  </a:solidFill>
                  <a:latin typeface="Playpen Sans Bold"/>
                  <a:ea typeface="Playpen Sans Bold"/>
                  <a:cs typeface="Playpen Sans Bold"/>
                  <a:sym typeface="Playpen Sans Bold"/>
                </a:rPr>
                <a:t>Generated a final risk report showing volatility levels and Sharpe ratios for each cryptocurrency.</a:t>
              </a:r>
            </a:p>
            <a:p>
              <a:pPr algn="l">
                <a:lnSpc>
                  <a:spcPts val="2520"/>
                </a:lnSpc>
              </a:pPr>
              <a:endParaRPr lang="en-US" sz="1800" b="1" spc="540">
                <a:solidFill>
                  <a:srgbClr val="F4F4F4"/>
                </a:solidFill>
                <a:latin typeface="Playpen Sans Bold"/>
                <a:ea typeface="Playpen Sans Bold"/>
                <a:cs typeface="Playpen Sans Bold"/>
                <a:sym typeface="Playpen Sans Bold"/>
              </a:endParaRPr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2571838" y="301510"/>
            <a:ext cx="12732841" cy="67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8"/>
              </a:lnSpc>
              <a:spcBef>
                <a:spcPct val="0"/>
              </a:spcBef>
            </a:pPr>
            <a:r>
              <a:rPr lang="en-US" sz="3798" b="1" spc="140">
                <a:solidFill>
                  <a:srgbClr val="F4F4F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MODULE 4 – RISK CLASSIFICATION &amp; REPORTING</a:t>
            </a:r>
          </a:p>
        </p:txBody>
      </p:sp>
      <p:sp>
        <p:nvSpPr>
          <p:cNvPr id="6" name="Freeform 6"/>
          <p:cNvSpPr/>
          <p:nvPr/>
        </p:nvSpPr>
        <p:spPr>
          <a:xfrm>
            <a:off x="1539715" y="232775"/>
            <a:ext cx="814742" cy="795925"/>
          </a:xfrm>
          <a:custGeom>
            <a:avLst/>
            <a:gdLst/>
            <a:ahLst/>
            <a:cxnLst/>
            <a:rect l="l" t="t" r="r" b="b"/>
            <a:pathLst>
              <a:path w="814742" h="795925">
                <a:moveTo>
                  <a:pt x="0" y="0"/>
                </a:moveTo>
                <a:lnTo>
                  <a:pt x="814742" y="0"/>
                </a:lnTo>
                <a:lnTo>
                  <a:pt x="814742" y="795925"/>
                </a:lnTo>
                <a:lnTo>
                  <a:pt x="0" y="795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364"/>
            </a:stretch>
          </a:blipFill>
        </p:spPr>
      </p:sp>
      <p:sp>
        <p:nvSpPr>
          <p:cNvPr id="7" name="Freeform 7"/>
          <p:cNvSpPr/>
          <p:nvPr/>
        </p:nvSpPr>
        <p:spPr>
          <a:xfrm flipV="1">
            <a:off x="13825842" y="-1444938"/>
            <a:ext cx="10794844" cy="15072046"/>
          </a:xfrm>
          <a:custGeom>
            <a:avLst/>
            <a:gdLst/>
            <a:ahLst/>
            <a:cxnLst/>
            <a:rect l="l" t="t" r="r" b="b"/>
            <a:pathLst>
              <a:path w="10794844" h="15072046">
                <a:moveTo>
                  <a:pt x="0" y="15072045"/>
                </a:moveTo>
                <a:lnTo>
                  <a:pt x="10794844" y="15072045"/>
                </a:lnTo>
                <a:lnTo>
                  <a:pt x="10794844" y="0"/>
                </a:lnTo>
                <a:lnTo>
                  <a:pt x="0" y="0"/>
                </a:lnTo>
                <a:lnTo>
                  <a:pt x="0" y="15072045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620585" y="6921081"/>
            <a:ext cx="9142527" cy="2766745"/>
          </a:xfrm>
          <a:custGeom>
            <a:avLst/>
            <a:gdLst/>
            <a:ahLst/>
            <a:cxnLst/>
            <a:rect l="l" t="t" r="r" b="b"/>
            <a:pathLst>
              <a:path w="9142527" h="2766745">
                <a:moveTo>
                  <a:pt x="0" y="0"/>
                </a:moveTo>
                <a:lnTo>
                  <a:pt x="9142527" y="0"/>
                </a:lnTo>
                <a:lnTo>
                  <a:pt x="9142527" y="2766745"/>
                </a:lnTo>
                <a:lnTo>
                  <a:pt x="0" y="276674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t="-6588" b="-6588"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13825842" y="8589047"/>
            <a:ext cx="2445092" cy="1098779"/>
          </a:xfrm>
          <a:custGeom>
            <a:avLst/>
            <a:gdLst/>
            <a:ahLst/>
            <a:cxnLst/>
            <a:rect l="l" t="t" r="r" b="b"/>
            <a:pathLst>
              <a:path w="2445092" h="1098779">
                <a:moveTo>
                  <a:pt x="0" y="0"/>
                </a:moveTo>
                <a:lnTo>
                  <a:pt x="2445092" y="0"/>
                </a:lnTo>
                <a:lnTo>
                  <a:pt x="2445092" y="1098779"/>
                </a:lnTo>
                <a:lnTo>
                  <a:pt x="0" y="109877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r="-204665"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80989" y="1138467"/>
            <a:ext cx="4181698" cy="67503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8"/>
              </a:lnSpc>
              <a:spcBef>
                <a:spcPct val="0"/>
              </a:spcBef>
            </a:pPr>
            <a:r>
              <a:rPr lang="en-US" sz="3798" b="1" spc="140">
                <a:solidFill>
                  <a:srgbClr val="55A6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REQUIREMENTS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7493" y="2023050"/>
            <a:ext cx="8263091" cy="3554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74754" lvl="1" indent="-237377" algn="l">
              <a:lnSpc>
                <a:spcPts val="3078"/>
              </a:lnSpc>
              <a:buFont typeface="Arial"/>
              <a:buChar char="•"/>
            </a:pPr>
            <a:r>
              <a:rPr lang="en-US" sz="2198" b="1" spc="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DEFINE THRESHOLDS TO CLASSIFY CRYPTOCURRENCIES INTO LOW RISK, MEDIUM RISK, AND HIGH RISK.</a:t>
            </a:r>
          </a:p>
          <a:p>
            <a:pPr marL="474754" lvl="1" indent="-237377" algn="l">
              <a:lnSpc>
                <a:spcPts val="3078"/>
              </a:lnSpc>
              <a:buFont typeface="Arial"/>
              <a:buChar char="•"/>
            </a:pPr>
            <a:r>
              <a:rPr lang="en-US" sz="2198" b="1" spc="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VISUALLY HIGHLIGHT HIGH-RISK ASSETS IN THE DASHBOARD.</a:t>
            </a:r>
          </a:p>
          <a:p>
            <a:pPr marL="474754" lvl="1" indent="-237377" algn="l">
              <a:lnSpc>
                <a:spcPts val="3276"/>
              </a:lnSpc>
              <a:buFont typeface="Arial"/>
              <a:buChar char="•"/>
            </a:pPr>
            <a:r>
              <a:rPr lang="en-US" sz="2198" b="1" spc="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GENERATE SUMMARY REPORTS IN FORMATS SUCH AS CSV OR PNG.</a:t>
            </a:r>
          </a:p>
          <a:p>
            <a:pPr marL="474754" lvl="1" indent="-237377" algn="l">
              <a:lnSpc>
                <a:spcPts val="3078"/>
              </a:lnSpc>
              <a:buFont typeface="Arial"/>
              <a:buChar char="•"/>
            </a:pPr>
            <a:r>
              <a:rPr lang="en-US" sz="2198" b="1" spc="8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VALIDATE SYSTEM PERFORMANCE AND COMPLETE PROJECT DOCUMENTATION.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65323" y="5765879"/>
            <a:ext cx="2462508" cy="63190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5318"/>
              </a:lnSpc>
              <a:spcBef>
                <a:spcPct val="0"/>
              </a:spcBef>
            </a:pPr>
            <a:r>
              <a:rPr lang="en-US" sz="3798" b="1" spc="140">
                <a:solidFill>
                  <a:srgbClr val="55A6A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OUTPUT</a:t>
            </a:r>
          </a:p>
        </p:txBody>
      </p:sp>
      <p:grpSp>
        <p:nvGrpSpPr>
          <p:cNvPr id="13" name="Group 13"/>
          <p:cNvGrpSpPr/>
          <p:nvPr/>
        </p:nvGrpSpPr>
        <p:grpSpPr>
          <a:xfrm>
            <a:off x="9267445" y="1528371"/>
            <a:ext cx="7307710" cy="4562713"/>
            <a:chOff x="0" y="0"/>
            <a:chExt cx="16920801" cy="10564838"/>
          </a:xfrm>
        </p:grpSpPr>
        <p:sp>
          <p:nvSpPr>
            <p:cNvPr id="14" name="Freeform 14"/>
            <p:cNvSpPr/>
            <p:nvPr/>
          </p:nvSpPr>
          <p:spPr>
            <a:xfrm>
              <a:off x="0" y="0"/>
              <a:ext cx="16920801" cy="10564837"/>
            </a:xfrm>
            <a:custGeom>
              <a:avLst/>
              <a:gdLst/>
              <a:ahLst/>
              <a:cxnLst/>
              <a:rect l="l" t="t" r="r" b="b"/>
              <a:pathLst>
                <a:path w="16920801" h="10564837">
                  <a:moveTo>
                    <a:pt x="0" y="0"/>
                  </a:moveTo>
                  <a:lnTo>
                    <a:pt x="16920801" y="0"/>
                  </a:lnTo>
                  <a:lnTo>
                    <a:pt x="16920801" y="10564837"/>
                  </a:lnTo>
                  <a:lnTo>
                    <a:pt x="0" y="10564837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id="15" name="TextBox 15"/>
            <p:cNvSpPr txBox="1"/>
            <p:nvPr/>
          </p:nvSpPr>
          <p:spPr>
            <a:xfrm>
              <a:off x="0" y="-28575"/>
              <a:ext cx="16920801" cy="1059341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l">
                <a:lnSpc>
                  <a:spcPts val="2520"/>
                </a:lnSpc>
              </a:pPr>
              <a:endParaRPr/>
            </a:p>
            <a:p>
              <a:pPr algn="l">
                <a:lnSpc>
                  <a:spcPts val="2520"/>
                </a:lnSpc>
              </a:pPr>
              <a:endParaRPr/>
            </a:p>
          </p:txBody>
        </p:sp>
      </p:grpSp>
      <p:sp>
        <p:nvSpPr>
          <p:cNvPr id="16" name="Freeform 16"/>
          <p:cNvSpPr/>
          <p:nvPr/>
        </p:nvSpPr>
        <p:spPr>
          <a:xfrm>
            <a:off x="9569660" y="1813500"/>
            <a:ext cx="6701274" cy="3967749"/>
          </a:xfrm>
          <a:custGeom>
            <a:avLst/>
            <a:gdLst/>
            <a:ahLst/>
            <a:cxnLst/>
            <a:rect l="l" t="t" r="r" b="b"/>
            <a:pathLst>
              <a:path w="6701274" h="3967749">
                <a:moveTo>
                  <a:pt x="0" y="0"/>
                </a:moveTo>
                <a:lnTo>
                  <a:pt x="6701274" y="0"/>
                </a:lnTo>
                <a:lnTo>
                  <a:pt x="6701274" y="3967749"/>
                </a:lnTo>
                <a:lnTo>
                  <a:pt x="0" y="396774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62" r="-1589" b="-8160"/>
            </a:stretch>
          </a:blipFill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1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621327" y="0"/>
            <a:ext cx="7676198" cy="10287000"/>
          </a:xfrm>
          <a:custGeom>
            <a:avLst/>
            <a:gdLst/>
            <a:ahLst/>
            <a:cxnLst/>
            <a:rect l="l" t="t" r="r" b="b"/>
            <a:pathLst>
              <a:path w="7676198" h="10287000">
                <a:moveTo>
                  <a:pt x="0" y="0"/>
                </a:moveTo>
                <a:lnTo>
                  <a:pt x="7676198" y="0"/>
                </a:lnTo>
                <a:lnTo>
                  <a:pt x="76761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3784" b="-8215"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3665445" y="584014"/>
            <a:ext cx="2839578" cy="7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8"/>
              </a:lnSpc>
            </a:pPr>
            <a:r>
              <a:rPr lang="en-US" sz="4077" b="1">
                <a:solidFill>
                  <a:srgbClr val="F4F4F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 RESULTS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24994" y="3081907"/>
            <a:ext cx="9120480" cy="65662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17541" lvl="1" indent="-308771" algn="l">
              <a:lnSpc>
                <a:spcPts val="4004"/>
              </a:lnSpc>
              <a:buFont typeface="Arial"/>
              <a:buChar char="•"/>
            </a:pPr>
            <a:r>
              <a:rPr lang="en-US" sz="2860" b="1" spc="105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INTERACTIVE DASHBOARDS DISPLAYING CRYPTOCURRENCY PRICE TRENDS AND VOLATILITY.</a:t>
            </a:r>
          </a:p>
          <a:p>
            <a:pPr marL="617541" lvl="1" indent="-308771" algn="l">
              <a:lnSpc>
                <a:spcPts val="4004"/>
              </a:lnSpc>
              <a:buFont typeface="Arial"/>
              <a:buChar char="•"/>
            </a:pPr>
            <a:r>
              <a:rPr lang="en-US" sz="2860" b="1" spc="105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RISK ANALYSIS METRICS FOR DIFFERENT CRYPTOCURRENCIES.</a:t>
            </a:r>
          </a:p>
          <a:p>
            <a:pPr marL="617541" lvl="1" indent="-308771" algn="l">
              <a:lnSpc>
                <a:spcPts val="4004"/>
              </a:lnSpc>
              <a:buFont typeface="Arial"/>
              <a:buChar char="•"/>
            </a:pPr>
            <a:r>
              <a:rPr lang="en-US" sz="2860" b="1" spc="105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CLASSIFICATION OF CRYPTOCURRENCIES INTO:</a:t>
            </a:r>
          </a:p>
          <a:p>
            <a:pPr marL="617541" lvl="1" indent="-308771" algn="l">
              <a:lnSpc>
                <a:spcPts val="4004"/>
              </a:lnSpc>
              <a:buFont typeface="Arial"/>
              <a:buChar char="•"/>
            </a:pPr>
            <a:r>
              <a:rPr lang="en-US" sz="2860" b="1" spc="105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LOW RISK</a:t>
            </a:r>
          </a:p>
          <a:p>
            <a:pPr marL="617541" lvl="1" indent="-308771" algn="l">
              <a:lnSpc>
                <a:spcPts val="4004"/>
              </a:lnSpc>
              <a:buFont typeface="Arial"/>
              <a:buChar char="•"/>
            </a:pPr>
            <a:r>
              <a:rPr lang="en-US" sz="2860" b="1" spc="105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MEDIUM RISK</a:t>
            </a:r>
          </a:p>
          <a:p>
            <a:pPr marL="617541" lvl="1" indent="-308771" algn="l">
              <a:lnSpc>
                <a:spcPts val="4004"/>
              </a:lnSpc>
              <a:buFont typeface="Arial"/>
              <a:buChar char="•"/>
            </a:pPr>
            <a:r>
              <a:rPr lang="en-US" sz="2860" b="1" spc="105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HIGH RISK</a:t>
            </a:r>
          </a:p>
          <a:p>
            <a:pPr marL="617541" lvl="1" indent="-308771" algn="l">
              <a:lnSpc>
                <a:spcPts val="4004"/>
              </a:lnSpc>
              <a:buFont typeface="Arial"/>
              <a:buChar char="•"/>
            </a:pPr>
            <a:r>
              <a:rPr lang="en-US" sz="2860" b="1" spc="105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THESE INSIGHTS HELP INVESTORS BETTER UNDERSTAND MARKET RISK AND POTENTIAL RETURNS.</a:t>
            </a:r>
          </a:p>
        </p:txBody>
      </p:sp>
      <p:sp>
        <p:nvSpPr>
          <p:cNvPr id="5" name="Freeform 5"/>
          <p:cNvSpPr/>
          <p:nvPr/>
        </p:nvSpPr>
        <p:spPr>
          <a:xfrm>
            <a:off x="2703051" y="562968"/>
            <a:ext cx="890812" cy="870238"/>
          </a:xfrm>
          <a:custGeom>
            <a:avLst/>
            <a:gdLst/>
            <a:ahLst/>
            <a:cxnLst/>
            <a:rect l="l" t="t" r="r" b="b"/>
            <a:pathLst>
              <a:path w="890812" h="870238">
                <a:moveTo>
                  <a:pt x="0" y="0"/>
                </a:moveTo>
                <a:lnTo>
                  <a:pt x="890812" y="0"/>
                </a:lnTo>
                <a:lnTo>
                  <a:pt x="890812" y="870237"/>
                </a:lnTo>
                <a:lnTo>
                  <a:pt x="0" y="8702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b="-2364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983605" y="1759937"/>
            <a:ext cx="7216378" cy="6845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318"/>
              </a:lnSpc>
              <a:spcBef>
                <a:spcPct val="0"/>
              </a:spcBef>
            </a:pPr>
            <a:r>
              <a:rPr lang="en-US" sz="3798" b="1" spc="140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The Final system produces:</a:t>
            </a:r>
          </a:p>
        </p:txBody>
      </p:sp>
      <p:sp>
        <p:nvSpPr>
          <p:cNvPr id="7" name="AutoShape 7"/>
          <p:cNvSpPr/>
          <p:nvPr/>
        </p:nvSpPr>
        <p:spPr>
          <a:xfrm>
            <a:off x="1135016" y="2778753"/>
            <a:ext cx="2458847" cy="0"/>
          </a:xfrm>
          <a:prstGeom prst="line">
            <a:avLst/>
          </a:prstGeom>
          <a:ln w="38100" cap="flat">
            <a:solidFill>
              <a:srgbClr val="049EE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8" name="Freeform 8"/>
          <p:cNvSpPr/>
          <p:nvPr/>
        </p:nvSpPr>
        <p:spPr>
          <a:xfrm rot="-409185" flipV="1">
            <a:off x="-5680150" y="-3580739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29" y="14289302"/>
                </a:lnTo>
                <a:lnTo>
                  <a:pt x="10234229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 rot="-4316461" flipV="1">
            <a:off x="-4352090" y="1632900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1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2640" y="593581"/>
            <a:ext cx="890812" cy="870238"/>
          </a:xfrm>
          <a:custGeom>
            <a:avLst/>
            <a:gdLst/>
            <a:ahLst/>
            <a:cxnLst/>
            <a:rect l="l" t="t" r="r" b="b"/>
            <a:pathLst>
              <a:path w="890812" h="870238">
                <a:moveTo>
                  <a:pt x="0" y="0"/>
                </a:moveTo>
                <a:lnTo>
                  <a:pt x="890812" y="0"/>
                </a:lnTo>
                <a:lnTo>
                  <a:pt x="890812" y="870238"/>
                </a:lnTo>
                <a:lnTo>
                  <a:pt x="0" y="87023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364"/>
            </a:stretch>
          </a:blipFill>
        </p:spPr>
      </p:sp>
      <p:sp>
        <p:nvSpPr>
          <p:cNvPr id="3" name="AutoShape 3"/>
          <p:cNvSpPr/>
          <p:nvPr/>
        </p:nvSpPr>
        <p:spPr>
          <a:xfrm>
            <a:off x="933242" y="3014416"/>
            <a:ext cx="2458847" cy="0"/>
          </a:xfrm>
          <a:prstGeom prst="line">
            <a:avLst/>
          </a:prstGeom>
          <a:ln w="38100" cap="flat">
            <a:solidFill>
              <a:srgbClr val="049EE3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4" name="TextBox 4"/>
          <p:cNvSpPr txBox="1"/>
          <p:nvPr/>
        </p:nvSpPr>
        <p:spPr>
          <a:xfrm>
            <a:off x="2100943" y="614628"/>
            <a:ext cx="6769239" cy="7233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08"/>
              </a:lnSpc>
            </a:pPr>
            <a:r>
              <a:rPr lang="en-US" sz="4077" b="1">
                <a:solidFill>
                  <a:srgbClr val="F4F4F4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FUTURE ENHANCEMENTS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617391" y="1785441"/>
            <a:ext cx="9242396" cy="90731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40"/>
              </a:lnSpc>
            </a:pPr>
            <a:r>
              <a:rPr lang="en-US" sz="2529" b="1" spc="93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The project can be improved with additional features such as: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510567" y="3457700"/>
            <a:ext cx="9555802" cy="5800600"/>
            <a:chOff x="0" y="0"/>
            <a:chExt cx="2716714" cy="164911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2716714" cy="1649110"/>
            </a:xfrm>
            <a:custGeom>
              <a:avLst/>
              <a:gdLst/>
              <a:ahLst/>
              <a:cxnLst/>
              <a:rect l="l" t="t" r="r" b="b"/>
              <a:pathLst>
                <a:path w="2716714" h="1649110">
                  <a:moveTo>
                    <a:pt x="0" y="0"/>
                  </a:moveTo>
                  <a:lnTo>
                    <a:pt x="2716714" y="0"/>
                  </a:lnTo>
                  <a:lnTo>
                    <a:pt x="2716714" y="1649110"/>
                  </a:lnTo>
                  <a:lnTo>
                    <a:pt x="0" y="1649110"/>
                  </a:lnTo>
                  <a:close/>
                </a:path>
              </a:pathLst>
            </a:custGeom>
            <a:solidFill>
              <a:srgbClr val="049EE3"/>
            </a:solidFill>
          </p:spPr>
        </p:sp>
        <p:sp>
          <p:nvSpPr>
            <p:cNvPr id="8" name="TextBox 8"/>
            <p:cNvSpPr txBox="1"/>
            <p:nvPr/>
          </p:nvSpPr>
          <p:spPr>
            <a:xfrm>
              <a:off x="0" y="-57150"/>
              <a:ext cx="2716714" cy="170626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20"/>
                </a:lnSpc>
              </a:pPr>
              <a:endParaRPr/>
            </a:p>
          </p:txBody>
        </p:sp>
      </p:grpSp>
      <p:sp>
        <p:nvSpPr>
          <p:cNvPr id="9" name="TextBox 9"/>
          <p:cNvSpPr txBox="1"/>
          <p:nvPr/>
        </p:nvSpPr>
        <p:spPr>
          <a:xfrm>
            <a:off x="1724441" y="3747165"/>
            <a:ext cx="8135346" cy="4867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855"/>
              </a:lnSpc>
            </a:pPr>
            <a:r>
              <a:rPr lang="en-US" sz="3468" b="1" spc="128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AI-based cryptocurrency price prediction models.</a:t>
            </a:r>
          </a:p>
          <a:p>
            <a:pPr algn="l">
              <a:lnSpc>
                <a:spcPts val="4855"/>
              </a:lnSpc>
            </a:pPr>
            <a:r>
              <a:rPr lang="en-US" sz="3468" b="1" spc="128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Portfolio optimization tools for better investment strategies.</a:t>
            </a:r>
          </a:p>
          <a:p>
            <a:pPr algn="l">
              <a:lnSpc>
                <a:spcPts val="4855"/>
              </a:lnSpc>
            </a:pPr>
            <a:r>
              <a:rPr lang="en-US" sz="3468" b="1" spc="128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Real-time alerts for sudden market volatility.</a:t>
            </a:r>
          </a:p>
          <a:p>
            <a:pPr algn="l">
              <a:lnSpc>
                <a:spcPts val="4855"/>
              </a:lnSpc>
            </a:pPr>
            <a:r>
              <a:rPr lang="en-US" sz="3468" b="1" spc="128">
                <a:solidFill>
                  <a:srgbClr val="F4F4F4"/>
                </a:solidFill>
                <a:latin typeface="Poppins Bold"/>
                <a:ea typeface="Poppins Bold"/>
                <a:cs typeface="Poppins Bold"/>
                <a:sym typeface="Poppins Bold"/>
              </a:rPr>
              <a:t>Integration with more cryptocurrency exchanges.</a:t>
            </a:r>
          </a:p>
        </p:txBody>
      </p:sp>
      <p:sp>
        <p:nvSpPr>
          <p:cNvPr id="10" name="Freeform 10"/>
          <p:cNvSpPr/>
          <p:nvPr/>
        </p:nvSpPr>
        <p:spPr>
          <a:xfrm>
            <a:off x="851128" y="5143500"/>
            <a:ext cx="567777" cy="567777"/>
          </a:xfrm>
          <a:custGeom>
            <a:avLst/>
            <a:gdLst/>
            <a:ahLst/>
            <a:cxnLst/>
            <a:rect l="l" t="t" r="r" b="b"/>
            <a:pathLst>
              <a:path w="567777" h="567777">
                <a:moveTo>
                  <a:pt x="0" y="0"/>
                </a:moveTo>
                <a:lnTo>
                  <a:pt x="567776" y="0"/>
                </a:lnTo>
                <a:lnTo>
                  <a:pt x="567776" y="567777"/>
                </a:lnTo>
                <a:lnTo>
                  <a:pt x="0" y="5677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1" name="Freeform 11"/>
          <p:cNvSpPr/>
          <p:nvPr/>
        </p:nvSpPr>
        <p:spPr>
          <a:xfrm>
            <a:off x="852640" y="7501140"/>
            <a:ext cx="581796" cy="566072"/>
          </a:xfrm>
          <a:custGeom>
            <a:avLst/>
            <a:gdLst/>
            <a:ahLst/>
            <a:cxnLst/>
            <a:rect l="l" t="t" r="r" b="b"/>
            <a:pathLst>
              <a:path w="581796" h="566072">
                <a:moveTo>
                  <a:pt x="0" y="0"/>
                </a:moveTo>
                <a:lnTo>
                  <a:pt x="581796" y="0"/>
                </a:lnTo>
                <a:lnTo>
                  <a:pt x="581796" y="566072"/>
                </a:lnTo>
                <a:lnTo>
                  <a:pt x="0" y="56607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12" name="Freeform 12"/>
          <p:cNvSpPr/>
          <p:nvPr/>
        </p:nvSpPr>
        <p:spPr>
          <a:xfrm>
            <a:off x="851128" y="6228747"/>
            <a:ext cx="583308" cy="567543"/>
          </a:xfrm>
          <a:custGeom>
            <a:avLst/>
            <a:gdLst/>
            <a:ahLst/>
            <a:cxnLst/>
            <a:rect l="l" t="t" r="r" b="b"/>
            <a:pathLst>
              <a:path w="583308" h="567543">
                <a:moveTo>
                  <a:pt x="0" y="0"/>
                </a:moveTo>
                <a:lnTo>
                  <a:pt x="583308" y="0"/>
                </a:lnTo>
                <a:lnTo>
                  <a:pt x="583308" y="567543"/>
                </a:lnTo>
                <a:lnTo>
                  <a:pt x="0" y="56754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13" name="Freeform 13"/>
          <p:cNvSpPr/>
          <p:nvPr/>
        </p:nvSpPr>
        <p:spPr>
          <a:xfrm>
            <a:off x="843929" y="3854315"/>
            <a:ext cx="582174" cy="582174"/>
          </a:xfrm>
          <a:custGeom>
            <a:avLst/>
            <a:gdLst/>
            <a:ahLst/>
            <a:cxnLst/>
            <a:rect l="l" t="t" r="r" b="b"/>
            <a:pathLst>
              <a:path w="582174" h="582174">
                <a:moveTo>
                  <a:pt x="0" y="0"/>
                </a:moveTo>
                <a:lnTo>
                  <a:pt x="582174" y="0"/>
                </a:lnTo>
                <a:lnTo>
                  <a:pt x="582174" y="582173"/>
                </a:lnTo>
                <a:lnTo>
                  <a:pt x="0" y="58217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14" name="Freeform 14"/>
          <p:cNvSpPr/>
          <p:nvPr/>
        </p:nvSpPr>
        <p:spPr>
          <a:xfrm rot="-409185" flipV="1">
            <a:off x="-6359097" y="-3868776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1"/>
                </a:moveTo>
                <a:lnTo>
                  <a:pt x="10234230" y="14289301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1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5" name="Freeform 15"/>
          <p:cNvSpPr/>
          <p:nvPr/>
        </p:nvSpPr>
        <p:spPr>
          <a:xfrm rot="-5714675" flipV="1">
            <a:off x="-4606548" y="2037633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10584920" y="16226"/>
            <a:ext cx="7703080" cy="10270774"/>
          </a:xfrm>
          <a:custGeom>
            <a:avLst/>
            <a:gdLst/>
            <a:ahLst/>
            <a:cxnLst/>
            <a:rect l="l" t="t" r="r" b="b"/>
            <a:pathLst>
              <a:path w="7703080" h="10270774">
                <a:moveTo>
                  <a:pt x="0" y="0"/>
                </a:moveTo>
                <a:lnTo>
                  <a:pt x="7703080" y="0"/>
                </a:lnTo>
                <a:lnTo>
                  <a:pt x="7703080" y="10270774"/>
                </a:lnTo>
                <a:lnTo>
                  <a:pt x="0" y="1027077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1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19056" y="712921"/>
            <a:ext cx="4643140" cy="8917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50"/>
              </a:lnSpc>
              <a:spcBef>
                <a:spcPct val="0"/>
              </a:spcBef>
            </a:pPr>
            <a:r>
              <a:rPr lang="en-US" sz="5350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CONCLUSION</a:t>
            </a:r>
            <a:endParaRPr lang="en-US" sz="5350" b="1">
              <a:solidFill>
                <a:srgbClr val="FFFFFF"/>
              </a:solidFill>
              <a:latin typeface="Times New Roman Bold"/>
              <a:ea typeface="Times New Roman Bold"/>
              <a:cs typeface="Times New Roman Bold"/>
            </a:endParaRPr>
          </a:p>
        </p:txBody>
      </p:sp>
      <p:sp>
        <p:nvSpPr>
          <p:cNvPr id="3" name="Freeform 3"/>
          <p:cNvSpPr/>
          <p:nvPr/>
        </p:nvSpPr>
        <p:spPr>
          <a:xfrm>
            <a:off x="4577999" y="846271"/>
            <a:ext cx="814742" cy="795925"/>
          </a:xfrm>
          <a:custGeom>
            <a:avLst/>
            <a:gdLst/>
            <a:ahLst/>
            <a:cxnLst/>
            <a:rect l="l" t="t" r="r" b="b"/>
            <a:pathLst>
              <a:path w="814742" h="795925">
                <a:moveTo>
                  <a:pt x="0" y="0"/>
                </a:moveTo>
                <a:lnTo>
                  <a:pt x="814742" y="0"/>
                </a:lnTo>
                <a:lnTo>
                  <a:pt x="814742" y="795925"/>
                </a:lnTo>
                <a:lnTo>
                  <a:pt x="0" y="795925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b="-2364"/>
            </a:stretch>
          </a:blipFill>
        </p:spPr>
      </p:sp>
      <p:sp>
        <p:nvSpPr>
          <p:cNvPr id="4" name="Freeform 4"/>
          <p:cNvSpPr/>
          <p:nvPr/>
        </p:nvSpPr>
        <p:spPr>
          <a:xfrm rot="8842033" flipV="1">
            <a:off x="11869030" y="-3132729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1239480" y="1527896"/>
            <a:ext cx="15169091" cy="72321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90"/>
              </a:lnSpc>
            </a:pPr>
            <a:endParaRPr/>
          </a:p>
          <a:p>
            <a:pPr marL="893011" lvl="1" indent="-446506" algn="l">
              <a:lnSpc>
                <a:spcPts val="5790"/>
              </a:lnSpc>
              <a:buFont typeface="Arial"/>
              <a:buChar char="•"/>
            </a:pPr>
            <a:r>
              <a:rPr lang="en-US" sz="413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The Crypto Volatility and Risk Analyzer helps analyze cryptocurrency markets using data analytics techniques.</a:t>
            </a:r>
          </a:p>
          <a:p>
            <a:pPr marL="893011" lvl="1" indent="-446506" algn="l">
              <a:lnSpc>
                <a:spcPts val="5790"/>
              </a:lnSpc>
              <a:buFont typeface="Arial"/>
              <a:buChar char="•"/>
            </a:pPr>
            <a:r>
              <a:rPr lang="en-US" sz="413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By calculating risk metrics and visualizing insights through dashboards, the system helps investors understand volatility and make informed decisions.</a:t>
            </a:r>
          </a:p>
          <a:p>
            <a:pPr marL="893011" lvl="1" indent="-446506" algn="l">
              <a:lnSpc>
                <a:spcPts val="5790"/>
              </a:lnSpc>
              <a:buFont typeface="Arial"/>
              <a:buChar char="•"/>
            </a:pPr>
            <a:r>
              <a:rPr lang="en-US" sz="4136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This project demonstrates how data science and visualization can be applied in financial market analysis.</a:t>
            </a:r>
          </a:p>
        </p:txBody>
      </p:sp>
      <p:sp>
        <p:nvSpPr>
          <p:cNvPr id="6" name="Freeform 6"/>
          <p:cNvSpPr/>
          <p:nvPr/>
        </p:nvSpPr>
        <p:spPr>
          <a:xfrm rot="-1956001" flipV="1">
            <a:off x="-4189382" y="-3191267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9315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rot="8842033" flipV="1">
            <a:off x="10716879" y="-2001151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29" y="14289302"/>
                </a:lnTo>
                <a:lnTo>
                  <a:pt x="10234229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rot="-3016969" flipV="1">
            <a:off x="-2675828" y="-1177059"/>
            <a:ext cx="10234230" cy="14289302"/>
          </a:xfrm>
          <a:custGeom>
            <a:avLst/>
            <a:gdLst/>
            <a:ahLst/>
            <a:cxnLst/>
            <a:rect l="l" t="t" r="r" b="b"/>
            <a:pathLst>
              <a:path w="10234230" h="14289302">
                <a:moveTo>
                  <a:pt x="0" y="14289302"/>
                </a:moveTo>
                <a:lnTo>
                  <a:pt x="10234230" y="14289302"/>
                </a:lnTo>
                <a:lnTo>
                  <a:pt x="10234230" y="0"/>
                </a:lnTo>
                <a:lnTo>
                  <a:pt x="0" y="0"/>
                </a:lnTo>
                <a:lnTo>
                  <a:pt x="0" y="14289302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909349" y="3071554"/>
            <a:ext cx="7991218" cy="14286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l">
              <a:lnSpc>
                <a:spcPts val="10591"/>
              </a:lnSpc>
              <a:spcBef>
                <a:spcPct val="0"/>
              </a:spcBef>
            </a:pPr>
            <a:r>
              <a:rPr lang="en-US" sz="9628" b="1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THANK YOU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4246028" y="5378839"/>
            <a:ext cx="9317861" cy="58875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629"/>
              </a:lnSpc>
              <a:spcBef>
                <a:spcPct val="0"/>
              </a:spcBef>
            </a:pPr>
            <a:r>
              <a:rPr lang="en-US" sz="3307" b="1">
                <a:solidFill>
                  <a:srgbClr val="FFFFFF"/>
                </a:solidFill>
                <a:latin typeface="Poppins Bold"/>
                <a:ea typeface="Poppins Bold"/>
                <a:cs typeface="Poppins Bold"/>
                <a:sym typeface="Poppins Bold"/>
              </a:rPr>
              <a:t>We welcome any questions or suggestions.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Modern Annual Company Report Presentation</dc:title>
  <cp:revision>29</cp:revision>
  <dcterms:created xsi:type="dcterms:W3CDTF">2006-08-16T00:00:00Z</dcterms:created>
  <dcterms:modified xsi:type="dcterms:W3CDTF">2026-03-26T14:34:11Z</dcterms:modified>
  <dc:identifier>DAHD6jmoHeg</dc:identifier>
</cp:coreProperties>
</file>
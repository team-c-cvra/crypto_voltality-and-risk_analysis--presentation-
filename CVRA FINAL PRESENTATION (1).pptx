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Poppins Bold" charset="1" panose="00000800000000000000"/>
      <p:regular r:id="rId23"/>
    </p:embeddedFont>
    <p:embeddedFont>
      <p:font typeface="Times New Roman" charset="1" panose="02020603050405020304"/>
      <p:regular r:id="rId24"/>
    </p:embeddedFont>
    <p:embeddedFont>
      <p:font typeface="Playpen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5.pn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314759" y="1496488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8228" y="8641139"/>
            <a:ext cx="4772479" cy="3018593"/>
          </a:xfrm>
          <a:custGeom>
            <a:avLst/>
            <a:gdLst/>
            <a:ahLst/>
            <a:cxnLst/>
            <a:rect r="r" b="b" t="t" l="l"/>
            <a:pathLst>
              <a:path h="3018593" w="4772479">
                <a:moveTo>
                  <a:pt x="0" y="0"/>
                </a:moveTo>
                <a:lnTo>
                  <a:pt x="4772479" y="0"/>
                </a:lnTo>
                <a:lnTo>
                  <a:pt x="4772479" y="3018593"/>
                </a:lnTo>
                <a:lnTo>
                  <a:pt x="0" y="301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575" y="-300003"/>
            <a:ext cx="27085672" cy="14522434"/>
          </a:xfrm>
          <a:custGeom>
            <a:avLst/>
            <a:gdLst/>
            <a:ahLst/>
            <a:cxnLst/>
            <a:rect r="r" b="b" t="t" l="l"/>
            <a:pathLst>
              <a:path h="14522434" w="27085672">
                <a:moveTo>
                  <a:pt x="0" y="0"/>
                </a:moveTo>
                <a:lnTo>
                  <a:pt x="27085672" y="0"/>
                </a:lnTo>
                <a:lnTo>
                  <a:pt x="27085672" y="14522434"/>
                </a:lnTo>
                <a:lnTo>
                  <a:pt x="0" y="14522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678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8228" y="1057275"/>
            <a:ext cx="6606845" cy="554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9"/>
              </a:lnSpc>
            </a:pPr>
            <a:r>
              <a:rPr lang="en-US" b="true" sz="657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CRYPTO VOLATILITY AND RISK ANALYZER</a:t>
            </a:r>
          </a:p>
          <a:p>
            <a:pPr algn="l">
              <a:lnSpc>
                <a:spcPts val="7229"/>
              </a:lnSpc>
            </a:pPr>
          </a:p>
          <a:p>
            <a:pPr algn="l">
              <a:lnSpc>
                <a:spcPts val="722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118080" y="377894"/>
            <a:ext cx="11309893" cy="15791171"/>
          </a:xfrm>
          <a:custGeom>
            <a:avLst/>
            <a:gdLst/>
            <a:ahLst/>
            <a:cxnLst/>
            <a:rect r="r" b="b" t="t" l="l"/>
            <a:pathLst>
              <a:path h="15791171" w="11309893">
                <a:moveTo>
                  <a:pt x="0" y="15791170"/>
                </a:moveTo>
                <a:lnTo>
                  <a:pt x="11309893" y="15791170"/>
                </a:lnTo>
                <a:lnTo>
                  <a:pt x="11309893" y="0"/>
                </a:lnTo>
                <a:lnTo>
                  <a:pt x="0" y="0"/>
                </a:lnTo>
                <a:lnTo>
                  <a:pt x="0" y="157911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85428" y="987939"/>
            <a:ext cx="5005698" cy="96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b="true" sz="5442" spc="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INTRO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6952436">
            <a:off x="-5654946" y="-108657"/>
            <a:ext cx="11309893" cy="15791171"/>
          </a:xfrm>
          <a:custGeom>
            <a:avLst/>
            <a:gdLst/>
            <a:ahLst/>
            <a:cxnLst/>
            <a:rect r="r" b="b" t="t" l="l"/>
            <a:pathLst>
              <a:path h="15791171" w="11309893">
                <a:moveTo>
                  <a:pt x="0" y="15791170"/>
                </a:moveTo>
                <a:lnTo>
                  <a:pt x="11309892" y="15791170"/>
                </a:lnTo>
                <a:lnTo>
                  <a:pt x="11309892" y="0"/>
                </a:lnTo>
                <a:lnTo>
                  <a:pt x="0" y="0"/>
                </a:lnTo>
                <a:lnTo>
                  <a:pt x="0" y="157911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52371" y="1028700"/>
            <a:ext cx="1096554" cy="1071228"/>
          </a:xfrm>
          <a:custGeom>
            <a:avLst/>
            <a:gdLst/>
            <a:ahLst/>
            <a:cxnLst/>
            <a:rect r="r" b="b" t="t" l="l"/>
            <a:pathLst>
              <a:path h="1071228" w="1096554">
                <a:moveTo>
                  <a:pt x="0" y="0"/>
                </a:moveTo>
                <a:lnTo>
                  <a:pt x="1096554" y="0"/>
                </a:lnTo>
                <a:lnTo>
                  <a:pt x="1096554" y="1071228"/>
                </a:lnTo>
                <a:lnTo>
                  <a:pt x="0" y="1071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6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26100" y="4662124"/>
            <a:ext cx="10235801" cy="412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7"/>
              </a:lnSpc>
            </a:pP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1. RAMA LAKSHMI KALLA</a:t>
            </a:r>
          </a:p>
          <a:p>
            <a:pPr algn="l">
              <a:lnSpc>
                <a:spcPts val="5327"/>
              </a:lnSpc>
            </a:pP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2. ASHUTOSH CHOUDHURY</a:t>
            </a:r>
          </a:p>
          <a:p>
            <a:pPr algn="l">
              <a:lnSpc>
                <a:spcPts val="5327"/>
              </a:lnSpc>
            </a:pP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3. </a:t>
            </a: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KALASHREE KALPANA</a:t>
            </a:r>
          </a:p>
          <a:p>
            <a:pPr algn="l">
              <a:lnSpc>
                <a:spcPts val="5327"/>
              </a:lnSpc>
            </a:pP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4. </a:t>
            </a: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CHARITHA SRI NAGALLA</a:t>
            </a:r>
          </a:p>
          <a:p>
            <a:pPr algn="l">
              <a:lnSpc>
                <a:spcPts val="5327"/>
              </a:lnSpc>
            </a:pP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5. </a:t>
            </a:r>
            <a:r>
              <a:rPr lang="en-US" sz="4843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BADAM NAGASHREE</a:t>
            </a:r>
          </a:p>
          <a:p>
            <a:pPr algn="l">
              <a:lnSpc>
                <a:spcPts val="532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804339" y="2831663"/>
            <a:ext cx="6172423" cy="66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9"/>
              </a:lnSpc>
            </a:pPr>
            <a:r>
              <a:rPr lang="en-US" b="true" sz="45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MENTOR:  S.SOPHIYA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0024" y="3776437"/>
            <a:ext cx="5966383" cy="68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  <a:spcBef>
                <a:spcPct val="0"/>
              </a:spcBef>
            </a:pPr>
            <a:r>
              <a:rPr lang="en-US" b="true" sz="459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409185">
            <a:off x="12882847" y="-1515692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29406" y="782617"/>
            <a:ext cx="890812" cy="870238"/>
          </a:xfrm>
          <a:custGeom>
            <a:avLst/>
            <a:gdLst/>
            <a:ahLst/>
            <a:cxnLst/>
            <a:rect r="r" b="b" t="t" l="l"/>
            <a:pathLst>
              <a:path h="870238" w="890812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29768" y="762212"/>
            <a:ext cx="5433857" cy="80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4"/>
              </a:lnSpc>
            </a:pPr>
            <a:r>
              <a:rPr lang="en-US" b="true" sz="4631" spc="1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592" y="2061462"/>
            <a:ext cx="12234816" cy="760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199" indent="-414599" lvl="1">
              <a:lnSpc>
                <a:spcPts val="5376"/>
              </a:lnSpc>
              <a:buFont typeface="Arial"/>
              <a:buChar char="•"/>
            </a:pPr>
            <a:r>
              <a:rPr lang="en-US" b="true" sz="3840" spc="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Cryptocurrency markets are known for their high price fluctuations and volatility.</a:t>
            </a:r>
          </a:p>
          <a:p>
            <a:pPr algn="l" marL="829199" indent="-414599" lvl="1">
              <a:lnSpc>
                <a:spcPts val="5376"/>
              </a:lnSpc>
              <a:buFont typeface="Arial"/>
              <a:buChar char="•"/>
            </a:pPr>
            <a:r>
              <a:rPr lang="en-US" b="true" sz="3840" spc="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Prices of digital assets such as Bitcoin and Ethereum can change rapidly within a short period.</a:t>
            </a:r>
          </a:p>
          <a:p>
            <a:pPr algn="l" marL="874020" indent="-437010" lvl="1">
              <a:lnSpc>
                <a:spcPts val="5667"/>
              </a:lnSpc>
              <a:buFont typeface="Arial"/>
              <a:buChar char="•"/>
            </a:pPr>
            <a:r>
              <a:rPr lang="en-US" b="true" sz="4048" spc="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these fluctuations is important for investors and traders to make better financial decisions.</a:t>
            </a:r>
          </a:p>
          <a:p>
            <a:pPr algn="l" marL="829199" indent="-414599" lvl="1">
              <a:lnSpc>
                <a:spcPts val="5376"/>
              </a:lnSpc>
              <a:buFont typeface="Arial"/>
              <a:buChar char="•"/>
            </a:pPr>
            <a:r>
              <a:rPr lang="en-US" b="true" sz="3840" spc="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project analyzes cryptocurrency data and visualizes volatility patterns to help understand the risk involved.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8792465">
            <a:off x="-6469031" y="-2357645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96615" y="-308117"/>
            <a:ext cx="7291385" cy="10595117"/>
            <a:chOff x="0" y="0"/>
            <a:chExt cx="9721847" cy="1412682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6590" t="0" r="36590" b="0"/>
            <a:stretch>
              <a:fillRect/>
            </a:stretch>
          </p:blipFill>
          <p:spPr>
            <a:xfrm flipH="false" flipV="false">
              <a:off x="0" y="0"/>
              <a:ext cx="9721847" cy="14126822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5400000">
            <a:off x="1699998" y="3281216"/>
            <a:ext cx="47625" cy="1379730"/>
            <a:chOff x="0" y="0"/>
            <a:chExt cx="110274" cy="31947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274" cy="3194727"/>
            </a:xfrm>
            <a:custGeom>
              <a:avLst/>
              <a:gdLst/>
              <a:ahLst/>
              <a:cxnLst/>
              <a:rect r="r" b="b" t="t" l="l"/>
              <a:pathLst>
                <a:path h="3194727" w="110274">
                  <a:moveTo>
                    <a:pt x="0" y="0"/>
                  </a:moveTo>
                  <a:lnTo>
                    <a:pt x="110274" y="0"/>
                  </a:lnTo>
                  <a:lnTo>
                    <a:pt x="110274" y="3194727"/>
                  </a:lnTo>
                  <a:lnTo>
                    <a:pt x="0" y="3194727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0274" cy="3251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2998" y="713764"/>
            <a:ext cx="890812" cy="870238"/>
          </a:xfrm>
          <a:custGeom>
            <a:avLst/>
            <a:gdLst/>
            <a:ahLst/>
            <a:cxnLst/>
            <a:rect r="r" b="b" t="t" l="l"/>
            <a:pathLst>
              <a:path h="870238" w="890812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36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679200" y="0"/>
            <a:ext cx="8608800" cy="10595117"/>
            <a:chOff x="0" y="0"/>
            <a:chExt cx="11478399" cy="14126822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0" t="907" r="0" b="907"/>
            <a:stretch>
              <a:fillRect/>
            </a:stretch>
          </p:blipFill>
          <p:spPr>
            <a:xfrm flipH="false" flipV="false">
              <a:off x="0" y="0"/>
              <a:ext cx="11478399" cy="14126822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1966926" y="693476"/>
            <a:ext cx="8183314" cy="80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b="true" sz="464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060252"/>
            <a:ext cx="6960789" cy="159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36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CRYPTOCURRENCY MARKETS ARE HIGHLY UNPREDICTABLE AND VOLATILE.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92794" y="4029252"/>
            <a:ext cx="6787778" cy="5237838"/>
            <a:chOff x="0" y="0"/>
            <a:chExt cx="17279931" cy="133341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279931" cy="13334185"/>
            </a:xfrm>
            <a:custGeom>
              <a:avLst/>
              <a:gdLst/>
              <a:ahLst/>
              <a:cxnLst/>
              <a:rect r="r" b="b" t="t" l="l"/>
              <a:pathLst>
                <a:path h="13334185" w="17279931">
                  <a:moveTo>
                    <a:pt x="0" y="0"/>
                  </a:moveTo>
                  <a:lnTo>
                    <a:pt x="17279931" y="0"/>
                  </a:lnTo>
                  <a:lnTo>
                    <a:pt x="17279931" y="13334185"/>
                  </a:lnTo>
                  <a:lnTo>
                    <a:pt x="0" y="13334185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279931" cy="13391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4566393"/>
            <a:ext cx="6363709" cy="336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b="true" sz="3980" spc="1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MANY INVESTORS STRUGGLE TO EVALUATE THE RISK LEVEL OF DIFFERENT CRYPTOCURRENCIES BEFORE INVESTING.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58650" y="4769519"/>
            <a:ext cx="6456067" cy="376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lang="en-US" sz="3350" spc="1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SYSTEM THAT CAN ANALYZE CRYPTO PRICE DATA, CALCULATE RISK METRICS, AND PRESENT INSIGHTS VISUALLY TO SUPPORT INFORMED INVESTMENT DECISIONS.</a:t>
            </a:r>
          </a:p>
        </p:txBody>
      </p:sp>
      <p:sp>
        <p:nvSpPr>
          <p:cNvPr name="Freeform 17" id="17"/>
          <p:cNvSpPr/>
          <p:nvPr/>
        </p:nvSpPr>
        <p:spPr>
          <a:xfrm flipH="false" flipV="true" rot="-5041165">
            <a:off x="-4284117" y="952179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2566" y="2343186"/>
            <a:ext cx="4031332" cy="1935548"/>
            <a:chOff x="0" y="0"/>
            <a:chExt cx="841932" cy="404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932" cy="404234"/>
            </a:xfrm>
            <a:custGeom>
              <a:avLst/>
              <a:gdLst/>
              <a:ahLst/>
              <a:cxnLst/>
              <a:rect r="r" b="b" t="t" l="l"/>
              <a:pathLst>
                <a:path h="404234" w="841932">
                  <a:moveTo>
                    <a:pt x="0" y="0"/>
                  </a:moveTo>
                  <a:lnTo>
                    <a:pt x="841932" y="0"/>
                  </a:lnTo>
                  <a:lnTo>
                    <a:pt x="841932" y="404234"/>
                  </a:lnTo>
                  <a:lnTo>
                    <a:pt x="0" y="404234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41932" cy="46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2566" y="4859760"/>
            <a:ext cx="4031332" cy="1847488"/>
            <a:chOff x="0" y="0"/>
            <a:chExt cx="841932" cy="385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1932" cy="385842"/>
            </a:xfrm>
            <a:custGeom>
              <a:avLst/>
              <a:gdLst/>
              <a:ahLst/>
              <a:cxnLst/>
              <a:rect r="r" b="b" t="t" l="l"/>
              <a:pathLst>
                <a:path h="385842" w="841932">
                  <a:moveTo>
                    <a:pt x="0" y="0"/>
                  </a:moveTo>
                  <a:lnTo>
                    <a:pt x="841932" y="0"/>
                  </a:lnTo>
                  <a:lnTo>
                    <a:pt x="841932" y="385842"/>
                  </a:lnTo>
                  <a:lnTo>
                    <a:pt x="0" y="385842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41932" cy="442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566" y="7284217"/>
            <a:ext cx="4031332" cy="1970978"/>
            <a:chOff x="0" y="0"/>
            <a:chExt cx="841932" cy="411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1932" cy="411633"/>
            </a:xfrm>
            <a:custGeom>
              <a:avLst/>
              <a:gdLst/>
              <a:ahLst/>
              <a:cxnLst/>
              <a:rect r="r" b="b" t="t" l="l"/>
              <a:pathLst>
                <a:path h="411633" w="841932">
                  <a:moveTo>
                    <a:pt x="0" y="0"/>
                  </a:moveTo>
                  <a:lnTo>
                    <a:pt x="841932" y="0"/>
                  </a:lnTo>
                  <a:lnTo>
                    <a:pt x="841932" y="411633"/>
                  </a:lnTo>
                  <a:lnTo>
                    <a:pt x="0" y="411633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41932" cy="46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-1284775">
            <a:off x="15068554" y="-873912"/>
            <a:ext cx="7423928" cy="10365485"/>
          </a:xfrm>
          <a:custGeom>
            <a:avLst/>
            <a:gdLst/>
            <a:ahLst/>
            <a:cxnLst/>
            <a:rect r="r" b="b" t="t" l="l"/>
            <a:pathLst>
              <a:path h="10365485" w="7423928">
                <a:moveTo>
                  <a:pt x="0" y="10365485"/>
                </a:moveTo>
                <a:lnTo>
                  <a:pt x="7423928" y="10365485"/>
                </a:lnTo>
                <a:lnTo>
                  <a:pt x="7423928" y="0"/>
                </a:lnTo>
                <a:lnTo>
                  <a:pt x="0" y="0"/>
                </a:lnTo>
                <a:lnTo>
                  <a:pt x="0" y="1036548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6021425" y="3371409"/>
            <a:ext cx="2139283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6021425" y="5661862"/>
            <a:ext cx="2139283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6021425" y="8301261"/>
            <a:ext cx="2139283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8957773" y="2592204"/>
            <a:ext cx="7994572" cy="15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0"/>
              </a:lnSpc>
              <a:spcBef>
                <a:spcPct val="0"/>
              </a:spcBef>
            </a:pPr>
            <a:r>
              <a:rPr lang="en-US" b="true" sz="2886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Analyze cryptocurrency price data to understand market trends and volatility patterns.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57773" y="4593665"/>
            <a:ext cx="8207649" cy="202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5"/>
              </a:lnSpc>
              <a:spcBef>
                <a:spcPct val="0"/>
              </a:spcBef>
            </a:pPr>
            <a:r>
              <a:rPr lang="en-US" b="true" sz="288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 financial risk metrics such as volatility, Sharpe ratio, and beta coefficient to measure the risk level of cryptocurrencies.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57773" y="7233028"/>
            <a:ext cx="7803389" cy="202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1"/>
              </a:lnSpc>
              <a:spcBef>
                <a:spcPct val="0"/>
              </a:spcBef>
            </a:pPr>
            <a:r>
              <a:rPr lang="en-US" b="true" sz="288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 insights through interactive dashboards and charts to help users easily compare and understand crypto risk levels.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47436" y="764095"/>
            <a:ext cx="6789740" cy="77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b="true" sz="4371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OBJECTIVES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3663" y="2668262"/>
            <a:ext cx="3069138" cy="104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  <a:spcBef>
                <a:spcPct val="0"/>
              </a:spcBef>
            </a:pPr>
            <a:r>
              <a:rPr lang="en-US" b="true" sz="2960" spc="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32026" y="5183015"/>
            <a:ext cx="3272411" cy="103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7"/>
              </a:lnSpc>
              <a:spcBef>
                <a:spcPct val="0"/>
              </a:spcBef>
            </a:pPr>
            <a:r>
              <a:rPr lang="en-US" b="true" sz="2955" spc="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EVALUATION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4712" y="7717454"/>
            <a:ext cx="3487039" cy="104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  <a:spcBef>
                <a:spcPct val="0"/>
              </a:spcBef>
            </a:pPr>
            <a:r>
              <a:rPr lang="en-US" b="true" sz="2960" spc="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776096" y="629592"/>
            <a:ext cx="1096554" cy="1071228"/>
          </a:xfrm>
          <a:custGeom>
            <a:avLst/>
            <a:gdLst/>
            <a:ahLst/>
            <a:cxnLst/>
            <a:rect r="r" b="b" t="t" l="l"/>
            <a:pathLst>
              <a:path h="1071228" w="1096554">
                <a:moveTo>
                  <a:pt x="0" y="0"/>
                </a:moveTo>
                <a:lnTo>
                  <a:pt x="1096554" y="0"/>
                </a:lnTo>
                <a:lnTo>
                  <a:pt x="1096554" y="1071228"/>
                </a:lnTo>
                <a:lnTo>
                  <a:pt x="0" y="1071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6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-2370005">
            <a:off x="-3018172" y="737725"/>
            <a:ext cx="6476728" cy="9042979"/>
          </a:xfrm>
          <a:custGeom>
            <a:avLst/>
            <a:gdLst/>
            <a:ahLst/>
            <a:cxnLst/>
            <a:rect r="r" b="b" t="t" l="l"/>
            <a:pathLst>
              <a:path h="9042979" w="6476728">
                <a:moveTo>
                  <a:pt x="0" y="9042979"/>
                </a:moveTo>
                <a:lnTo>
                  <a:pt x="6476728" y="9042979"/>
                </a:lnTo>
                <a:lnTo>
                  <a:pt x="6476728" y="0"/>
                </a:lnTo>
                <a:lnTo>
                  <a:pt x="0" y="0"/>
                </a:lnTo>
                <a:lnTo>
                  <a:pt x="0" y="90429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3433602"/>
            <a:ext cx="2330002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true" rot="-5400000">
            <a:off x="-7497876" y="645209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5255" y="692876"/>
            <a:ext cx="953952" cy="931920"/>
          </a:xfrm>
          <a:custGeom>
            <a:avLst/>
            <a:gdLst/>
            <a:ahLst/>
            <a:cxnLst/>
            <a:rect r="r" b="b" t="t" l="l"/>
            <a:pathLst>
              <a:path h="931920" w="953952">
                <a:moveTo>
                  <a:pt x="0" y="0"/>
                </a:moveTo>
                <a:lnTo>
                  <a:pt x="953952" y="0"/>
                </a:lnTo>
                <a:lnTo>
                  <a:pt x="953952" y="931920"/>
                </a:lnTo>
                <a:lnTo>
                  <a:pt x="0" y="93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8866" y="0"/>
            <a:ext cx="8629134" cy="11334859"/>
          </a:xfrm>
          <a:custGeom>
            <a:avLst/>
            <a:gdLst/>
            <a:ahLst/>
            <a:cxnLst/>
            <a:rect r="r" b="b" t="t" l="l"/>
            <a:pathLst>
              <a:path h="11334859" w="8629134">
                <a:moveTo>
                  <a:pt x="0" y="0"/>
                </a:moveTo>
                <a:lnTo>
                  <a:pt x="8629134" y="0"/>
                </a:lnTo>
                <a:lnTo>
                  <a:pt x="8629134" y="11334859"/>
                </a:lnTo>
                <a:lnTo>
                  <a:pt x="0" y="11334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1546" t="-37158" r="-3435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80894" y="729742"/>
            <a:ext cx="6478888" cy="75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b="true" sz="4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5255" y="2015321"/>
            <a:ext cx="8362190" cy="103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b="true" sz="3593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PROJECT USES THE FOLLOWING TECHNOLOGIES: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810" y="3746783"/>
            <a:ext cx="8877055" cy="590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294" indent="-361147" lvl="1">
              <a:lnSpc>
                <a:spcPts val="4683"/>
              </a:lnSpc>
              <a:buFont typeface="Arial"/>
              <a:buChar char="•"/>
            </a:pPr>
            <a:r>
              <a:rPr lang="en-US" b="true" sz="33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– main programming language</a:t>
            </a:r>
          </a:p>
          <a:p>
            <a:pPr algn="l" marL="722294" indent="-361147" lvl="1">
              <a:lnSpc>
                <a:spcPts val="4683"/>
              </a:lnSpc>
              <a:buFont typeface="Arial"/>
              <a:buChar char="•"/>
            </a:pPr>
            <a:r>
              <a:rPr lang="en-US" b="true" sz="33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Pandas &amp; NumPy – data processing and analysis</a:t>
            </a:r>
          </a:p>
          <a:p>
            <a:pPr algn="l" marL="722294" indent="-361147" lvl="1">
              <a:lnSpc>
                <a:spcPts val="4683"/>
              </a:lnSpc>
              <a:buFont typeface="Arial"/>
              <a:buChar char="•"/>
            </a:pPr>
            <a:r>
              <a:rPr lang="en-US" b="true" sz="33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Plotly / Matplotlib – data visualization</a:t>
            </a:r>
          </a:p>
          <a:p>
            <a:pPr algn="l" marL="722294" indent="-361147" lvl="1">
              <a:lnSpc>
                <a:spcPts val="4683"/>
              </a:lnSpc>
              <a:buFont typeface="Arial"/>
              <a:buChar char="•"/>
            </a:pPr>
            <a:r>
              <a:rPr lang="en-US" b="true" sz="33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Streamlit – interactive dashboard development</a:t>
            </a:r>
          </a:p>
          <a:p>
            <a:pPr algn="l" marL="722294" indent="-361147" lvl="1">
              <a:lnSpc>
                <a:spcPts val="4683"/>
              </a:lnSpc>
              <a:buFont typeface="Arial"/>
              <a:buChar char="•"/>
            </a:pPr>
            <a:r>
              <a:rPr lang="en-US" b="true" sz="33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CoinGecko / Binance API – cryptocurrency data fetching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981" y="1607444"/>
            <a:ext cx="1323126" cy="1583025"/>
          </a:xfrm>
          <a:custGeom>
            <a:avLst/>
            <a:gdLst/>
            <a:ahLst/>
            <a:cxnLst/>
            <a:rect r="r" b="b" t="t" l="l"/>
            <a:pathLst>
              <a:path h="1583025" w="1323126">
                <a:moveTo>
                  <a:pt x="0" y="0"/>
                </a:moveTo>
                <a:lnTo>
                  <a:pt x="1323125" y="0"/>
                </a:lnTo>
                <a:lnTo>
                  <a:pt x="1323125" y="1583025"/>
                </a:lnTo>
                <a:lnTo>
                  <a:pt x="0" y="158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3544" y="3190469"/>
            <a:ext cx="1323126" cy="1583025"/>
          </a:xfrm>
          <a:custGeom>
            <a:avLst/>
            <a:gdLst/>
            <a:ahLst/>
            <a:cxnLst/>
            <a:rect r="r" b="b" t="t" l="l"/>
            <a:pathLst>
              <a:path h="1583025" w="1323126">
                <a:moveTo>
                  <a:pt x="0" y="0"/>
                </a:moveTo>
                <a:lnTo>
                  <a:pt x="1323126" y="0"/>
                </a:lnTo>
                <a:lnTo>
                  <a:pt x="1323126" y="1583026"/>
                </a:lnTo>
                <a:lnTo>
                  <a:pt x="0" y="1583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7981" y="4829317"/>
            <a:ext cx="1338689" cy="1601646"/>
          </a:xfrm>
          <a:custGeom>
            <a:avLst/>
            <a:gdLst/>
            <a:ahLst/>
            <a:cxnLst/>
            <a:rect r="r" b="b" t="t" l="l"/>
            <a:pathLst>
              <a:path h="1601646" w="1338689">
                <a:moveTo>
                  <a:pt x="0" y="0"/>
                </a:moveTo>
                <a:lnTo>
                  <a:pt x="1338689" y="0"/>
                </a:lnTo>
                <a:lnTo>
                  <a:pt x="1338689" y="1601646"/>
                </a:lnTo>
                <a:lnTo>
                  <a:pt x="0" y="1601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7981" y="6544747"/>
            <a:ext cx="1291999" cy="1545784"/>
          </a:xfrm>
          <a:custGeom>
            <a:avLst/>
            <a:gdLst/>
            <a:ahLst/>
            <a:cxnLst/>
            <a:rect r="r" b="b" t="t" l="l"/>
            <a:pathLst>
              <a:path h="1545784" w="1291999">
                <a:moveTo>
                  <a:pt x="0" y="0"/>
                </a:moveTo>
                <a:lnTo>
                  <a:pt x="1291998" y="0"/>
                </a:lnTo>
                <a:lnTo>
                  <a:pt x="1291998" y="1545784"/>
                </a:lnTo>
                <a:lnTo>
                  <a:pt x="0" y="1545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6854" y="8204831"/>
            <a:ext cx="1323126" cy="1583025"/>
          </a:xfrm>
          <a:custGeom>
            <a:avLst/>
            <a:gdLst/>
            <a:ahLst/>
            <a:cxnLst/>
            <a:rect r="r" b="b" t="t" l="l"/>
            <a:pathLst>
              <a:path h="1583025" w="1323126">
                <a:moveTo>
                  <a:pt x="0" y="0"/>
                </a:moveTo>
                <a:lnTo>
                  <a:pt x="1323125" y="0"/>
                </a:lnTo>
                <a:lnTo>
                  <a:pt x="1323125" y="1583026"/>
                </a:lnTo>
                <a:lnTo>
                  <a:pt x="0" y="1583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44170" y="601363"/>
            <a:ext cx="11210941" cy="75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b="true" sz="4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/ WORKFLOW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21052" y="562740"/>
            <a:ext cx="953952" cy="931920"/>
          </a:xfrm>
          <a:custGeom>
            <a:avLst/>
            <a:gdLst/>
            <a:ahLst/>
            <a:cxnLst/>
            <a:rect r="r" b="b" t="t" l="l"/>
            <a:pathLst>
              <a:path h="931920" w="953952">
                <a:moveTo>
                  <a:pt x="0" y="0"/>
                </a:moveTo>
                <a:lnTo>
                  <a:pt x="953952" y="0"/>
                </a:lnTo>
                <a:lnTo>
                  <a:pt x="953952" y="931920"/>
                </a:lnTo>
                <a:lnTo>
                  <a:pt x="0" y="93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36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8028" y="1840552"/>
            <a:ext cx="12703225" cy="104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b="true" sz="33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Cryptocurrency price data is fetched from APIs such as CoinGecko or Binance.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8028" y="3376256"/>
            <a:ext cx="9361587" cy="10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b="true" sz="33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Processing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The collected data is cleaned and processed for analysis.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03811" y="5048250"/>
            <a:ext cx="11390858" cy="10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b="true" sz="33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Analysis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Financial metrics like volatility, Sharpe ratio, and beta are calculated.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98028" y="6581903"/>
            <a:ext cx="10053042" cy="10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b="true" sz="33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Interactive charts and graphs are created to display insights.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98028" y="8250937"/>
            <a:ext cx="9754642" cy="10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b="true" sz="33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Classification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Cryptocurrencies are categorized based on their risk levels.</a:t>
            </a:r>
          </a:p>
        </p:txBody>
      </p:sp>
      <p:sp>
        <p:nvSpPr>
          <p:cNvPr name="Freeform 14" id="14"/>
          <p:cNvSpPr/>
          <p:nvPr/>
        </p:nvSpPr>
        <p:spPr>
          <a:xfrm flipH="false" flipV="true" rot="0">
            <a:off x="13050139" y="-571902"/>
            <a:ext cx="10794844" cy="15072046"/>
          </a:xfrm>
          <a:custGeom>
            <a:avLst/>
            <a:gdLst/>
            <a:ahLst/>
            <a:cxnLst/>
            <a:rect r="r" b="b" t="t" l="l"/>
            <a:pathLst>
              <a:path h="15072046" w="10794844">
                <a:moveTo>
                  <a:pt x="0" y="15072045"/>
                </a:moveTo>
                <a:lnTo>
                  <a:pt x="10794844" y="15072045"/>
                </a:lnTo>
                <a:lnTo>
                  <a:pt x="10794844" y="0"/>
                </a:lnTo>
                <a:lnTo>
                  <a:pt x="0" y="0"/>
                </a:lnTo>
                <a:lnTo>
                  <a:pt x="0" y="1507204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447" y="2372937"/>
            <a:ext cx="3382393" cy="3127509"/>
            <a:chOff x="0" y="0"/>
            <a:chExt cx="4509857" cy="417001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9177" t="0" r="19177" b="0"/>
            <a:stretch>
              <a:fillRect/>
            </a:stretch>
          </p:blipFill>
          <p:spPr>
            <a:xfrm flipH="false" flipV="false">
              <a:off x="0" y="0"/>
              <a:ext cx="4509857" cy="4170012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387447" y="5904791"/>
            <a:ext cx="3470298" cy="2958441"/>
            <a:chOff x="0" y="0"/>
            <a:chExt cx="4627064" cy="3944588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15909" t="0" r="15909" b="0"/>
            <a:stretch>
              <a:fillRect/>
            </a:stretch>
          </p:blipFill>
          <p:spPr>
            <a:xfrm flipH="false" flipV="false">
              <a:off x="0" y="0"/>
              <a:ext cx="4627064" cy="3944588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8575466" y="2240016"/>
            <a:ext cx="3730060" cy="3193133"/>
            <a:chOff x="0" y="0"/>
            <a:chExt cx="4973414" cy="425751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16488" t="0" r="16488" b="0"/>
            <a:stretch>
              <a:fillRect/>
            </a:stretch>
          </p:blipFill>
          <p:spPr>
            <a:xfrm flipH="false" flipV="false">
              <a:off x="0" y="0"/>
              <a:ext cx="4973414" cy="4257510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8561952" y="5891682"/>
            <a:ext cx="3730060" cy="2984660"/>
            <a:chOff x="0" y="0"/>
            <a:chExt cx="4973414" cy="3979546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5"/>
            <a:srcRect l="14382" t="0" r="14382" b="0"/>
            <a:stretch>
              <a:fillRect/>
            </a:stretch>
          </p:blipFill>
          <p:spPr>
            <a:xfrm flipH="false" flipV="false">
              <a:off x="0" y="0"/>
              <a:ext cx="4973414" cy="3979546"/>
            </a:xfrm>
            <a:prstGeom prst="rect">
              <a:avLst/>
            </a:prstGeom>
          </p:spPr>
        </p:pic>
      </p:grpSp>
      <p:sp>
        <p:nvSpPr>
          <p:cNvPr name="AutoShape 10" id="10"/>
          <p:cNvSpPr/>
          <p:nvPr/>
        </p:nvSpPr>
        <p:spPr>
          <a:xfrm>
            <a:off x="4216314" y="2837195"/>
            <a:ext cx="2458847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4216314" y="6511720"/>
            <a:ext cx="2458847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true" rot="0">
            <a:off x="14178802" y="-2182089"/>
            <a:ext cx="9536193" cy="13314685"/>
          </a:xfrm>
          <a:custGeom>
            <a:avLst/>
            <a:gdLst/>
            <a:ahLst/>
            <a:cxnLst/>
            <a:rect r="r" b="b" t="t" l="l"/>
            <a:pathLst>
              <a:path h="13314685" w="9536193">
                <a:moveTo>
                  <a:pt x="0" y="13314685"/>
                </a:moveTo>
                <a:lnTo>
                  <a:pt x="9536193" y="13314685"/>
                </a:lnTo>
                <a:lnTo>
                  <a:pt x="9536193" y="0"/>
                </a:lnTo>
                <a:lnTo>
                  <a:pt x="0" y="0"/>
                </a:lnTo>
                <a:lnTo>
                  <a:pt x="0" y="133146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2706144" y="2857871"/>
            <a:ext cx="2458847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2706144" y="6492670"/>
            <a:ext cx="2458847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47258" y="831329"/>
            <a:ext cx="814742" cy="795925"/>
          </a:xfrm>
          <a:custGeom>
            <a:avLst/>
            <a:gdLst/>
            <a:ahLst/>
            <a:cxnLst/>
            <a:rect r="r" b="b" t="t" l="l"/>
            <a:pathLst>
              <a:path h="795925" w="814742">
                <a:moveTo>
                  <a:pt x="0" y="0"/>
                </a:moveTo>
                <a:lnTo>
                  <a:pt x="814742" y="0"/>
                </a:lnTo>
                <a:lnTo>
                  <a:pt x="814742" y="795924"/>
                </a:lnTo>
                <a:lnTo>
                  <a:pt x="0" y="795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6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60524" y="873840"/>
            <a:ext cx="8438329" cy="75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b="true" sz="4310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OF THE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07181" y="3112608"/>
            <a:ext cx="4412179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Fetches live and historical cryptocurrency data from APIs.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Stores the data for further analysis.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007181" y="6749845"/>
            <a:ext cx="3685985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Calculates daily returns and statistical measures.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Processes data for volatility and risk analysis.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461632" y="3076946"/>
            <a:ext cx="3685985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Creates graphs and charts to display trends and patterns.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1632" y="6702220"/>
            <a:ext cx="3685985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Classifies cryptocurrencies based on calculated risk metrics.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Generates summarized reports.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216314" y="2144766"/>
            <a:ext cx="399391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1. Data Acquisition Module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16314" y="5508920"/>
            <a:ext cx="3685985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2. Data Processing Module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06144" y="2182866"/>
            <a:ext cx="355155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3. Visualization Module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06144" y="5417615"/>
            <a:ext cx="329990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4. Risk Classification &amp; Reporting Module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409185">
            <a:off x="12882847" y="-1515692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5780" y="158462"/>
            <a:ext cx="890812" cy="870238"/>
          </a:xfrm>
          <a:custGeom>
            <a:avLst/>
            <a:gdLst/>
            <a:ahLst/>
            <a:cxnLst/>
            <a:rect r="r" b="b" t="t" l="l"/>
            <a:pathLst>
              <a:path h="870238" w="890812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59938"/>
            <a:ext cx="7457052" cy="394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392" indent="-252696" lvl="1">
              <a:lnSpc>
                <a:spcPts val="3487"/>
              </a:lnSpc>
              <a:buFont typeface="Arial"/>
              <a:buChar char="•"/>
            </a:pPr>
            <a:r>
              <a:rPr lang="en-US" b="true" sz="2340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Set up the project environment with required libraries (Pandas, NumPy, Requests, Plotly, Dash).</a:t>
            </a:r>
          </a:p>
          <a:p>
            <a:pPr algn="l" marL="505392" indent="-252696" lvl="1">
              <a:lnSpc>
                <a:spcPts val="3487"/>
              </a:lnSpc>
              <a:buFont typeface="Arial"/>
              <a:buChar char="•"/>
            </a:pPr>
            <a:r>
              <a:rPr lang="en-US" b="true" sz="2340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Integrate cryptocurrency APIs (Binance/CoinGecko) to fetch price data.</a:t>
            </a:r>
          </a:p>
          <a:p>
            <a:pPr algn="l" marL="505392" indent="-252696" lvl="1">
              <a:lnSpc>
                <a:spcPts val="3487"/>
              </a:lnSpc>
              <a:buFont typeface="Arial"/>
              <a:buChar char="•"/>
            </a:pPr>
            <a:r>
              <a:rPr lang="en-US" b="true" sz="2340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Store the data in CSV format for analysis.</a:t>
            </a:r>
          </a:p>
          <a:p>
            <a:pPr algn="l" marL="505392" indent="-252696" lvl="1">
              <a:lnSpc>
                <a:spcPts val="3487"/>
              </a:lnSpc>
              <a:buFont typeface="Arial"/>
              <a:buChar char="•"/>
            </a:pPr>
            <a:r>
              <a:rPr lang="en-US" b="true" sz="2340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Perform basic preprocessing, including handling missing values and formatting time-series data.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404286">
            <a:off x="-9244297" y="-1295728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37338" y="1299511"/>
            <a:ext cx="6514709" cy="4329448"/>
          </a:xfrm>
          <a:custGeom>
            <a:avLst/>
            <a:gdLst/>
            <a:ahLst/>
            <a:cxnLst/>
            <a:rect r="r" b="b" t="t" l="l"/>
            <a:pathLst>
              <a:path h="4329448" w="6514709">
                <a:moveTo>
                  <a:pt x="0" y="0"/>
                </a:moveTo>
                <a:lnTo>
                  <a:pt x="6514708" y="0"/>
                </a:lnTo>
                <a:lnTo>
                  <a:pt x="6514708" y="4329448"/>
                </a:lnTo>
                <a:lnTo>
                  <a:pt x="0" y="4329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48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37338" y="5848923"/>
            <a:ext cx="6514709" cy="4038083"/>
          </a:xfrm>
          <a:custGeom>
            <a:avLst/>
            <a:gdLst/>
            <a:ahLst/>
            <a:cxnLst/>
            <a:rect r="r" b="b" t="t" l="l"/>
            <a:pathLst>
              <a:path h="4038083" w="6514709">
                <a:moveTo>
                  <a:pt x="0" y="0"/>
                </a:moveTo>
                <a:lnTo>
                  <a:pt x="6514708" y="0"/>
                </a:lnTo>
                <a:lnTo>
                  <a:pt x="6514708" y="4038083"/>
                </a:lnTo>
                <a:lnTo>
                  <a:pt x="0" y="4038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9" t="0" r="-239" b="-192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88218" y="201136"/>
            <a:ext cx="11050900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 – DATA ACQUISITION &amp; SETUP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54" y="1194736"/>
            <a:ext cx="4343730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154" y="6254448"/>
            <a:ext cx="2944689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95738"/>
            <a:ext cx="7272470" cy="258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Successfully collected and stored daily price data for at least 5 cryptocurrencies (BTC, ETH, SOL, ADA, DOGE).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Confirmed API connectivity and data consistency for reliable analysis.</a:t>
            </a:r>
          </a:p>
          <a:p>
            <a:pPr algn="l">
              <a:lnSpc>
                <a:spcPts val="340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409185">
            <a:off x="14061060" y="-2441841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5780" y="158462"/>
            <a:ext cx="890812" cy="870238"/>
          </a:xfrm>
          <a:custGeom>
            <a:avLst/>
            <a:gdLst/>
            <a:ahLst/>
            <a:cxnLst/>
            <a:rect r="r" b="b" t="t" l="l"/>
            <a:pathLst>
              <a:path h="870238" w="890812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26662"/>
            <a:ext cx="7272470" cy="344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 daily returns using log-return formulas.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 statistical measures such as: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Daily and Annualized Volatility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Sharpe Ratio and Beta Coefficient 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Apply moving average and rolling window analysis to track volatility over time.</a:t>
            </a:r>
          </a:p>
          <a:p>
            <a:pPr algn="l">
              <a:lnSpc>
                <a:spcPts val="340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404286">
            <a:off x="-9215722" y="-1295728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1417" y="5612872"/>
            <a:ext cx="7107035" cy="4210987"/>
          </a:xfrm>
          <a:custGeom>
            <a:avLst/>
            <a:gdLst/>
            <a:ahLst/>
            <a:cxnLst/>
            <a:rect r="r" b="b" t="t" l="l"/>
            <a:pathLst>
              <a:path h="4210987" w="7107035">
                <a:moveTo>
                  <a:pt x="0" y="0"/>
                </a:moveTo>
                <a:lnTo>
                  <a:pt x="7107035" y="0"/>
                </a:lnTo>
                <a:lnTo>
                  <a:pt x="7107035" y="4210986"/>
                </a:lnTo>
                <a:lnTo>
                  <a:pt x="0" y="4210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63" r="0" b="-31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63094" y="5143500"/>
            <a:ext cx="8667330" cy="4680358"/>
          </a:xfrm>
          <a:custGeom>
            <a:avLst/>
            <a:gdLst/>
            <a:ahLst/>
            <a:cxnLst/>
            <a:rect r="r" b="b" t="t" l="l"/>
            <a:pathLst>
              <a:path h="4680358" w="8667330">
                <a:moveTo>
                  <a:pt x="0" y="0"/>
                </a:moveTo>
                <a:lnTo>
                  <a:pt x="8667330" y="0"/>
                </a:lnTo>
                <a:lnTo>
                  <a:pt x="8667330" y="4680358"/>
                </a:lnTo>
                <a:lnTo>
                  <a:pt x="0" y="46803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04575" y="201136"/>
            <a:ext cx="12840850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 – DATA PROCESSING &amp; CALCULATION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135" y="1484641"/>
            <a:ext cx="4343730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349046"/>
            <a:ext cx="7272470" cy="258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Generated a metrics table containing volatility, Sharpe ratio, and beta values for selected cryptocurrencies.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a processed dataset ready for visualization and risk classification.</a:t>
            </a:r>
          </a:p>
          <a:p>
            <a:pPr algn="l">
              <a:lnSpc>
                <a:spcPts val="340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09587" y="1484641"/>
            <a:ext cx="2389187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092" y="1354064"/>
            <a:ext cx="8349086" cy="4894794"/>
            <a:chOff x="0" y="0"/>
            <a:chExt cx="2373644" cy="13915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644" cy="1391589"/>
            </a:xfrm>
            <a:custGeom>
              <a:avLst/>
              <a:gdLst/>
              <a:ahLst/>
              <a:cxnLst/>
              <a:rect r="r" b="b" t="t" l="l"/>
              <a:pathLst>
                <a:path h="1391589" w="2373644">
                  <a:moveTo>
                    <a:pt x="0" y="0"/>
                  </a:moveTo>
                  <a:lnTo>
                    <a:pt x="2373644" y="0"/>
                  </a:lnTo>
                  <a:lnTo>
                    <a:pt x="2373644" y="1391589"/>
                  </a:lnTo>
                  <a:lnTo>
                    <a:pt x="0" y="1391589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73644" cy="1448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65924" y="1604040"/>
            <a:ext cx="7693376" cy="4394841"/>
          </a:xfrm>
          <a:custGeom>
            <a:avLst/>
            <a:gdLst/>
            <a:ahLst/>
            <a:cxnLst/>
            <a:rect r="r" b="b" t="t" l="l"/>
            <a:pathLst>
              <a:path h="4394841" w="7693376">
                <a:moveTo>
                  <a:pt x="0" y="0"/>
                </a:moveTo>
                <a:lnTo>
                  <a:pt x="7693376" y="0"/>
                </a:lnTo>
                <a:lnTo>
                  <a:pt x="7693376" y="4394841"/>
                </a:lnTo>
                <a:lnTo>
                  <a:pt x="0" y="4394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34092" y="6400500"/>
            <a:ext cx="2117452" cy="67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0890" y="7237458"/>
            <a:ext cx="7272470" cy="429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an interactive dashboard showing volatility and Sharpe ratio for different cryptocurrencies.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Built a responsive interface that allows users to select date ranges and compare assets easily.</a:t>
            </a:r>
          </a:p>
          <a:p>
            <a:pPr algn="l">
              <a:lnSpc>
                <a:spcPts val="3401"/>
              </a:lnSpc>
            </a:pPr>
          </a:p>
          <a:p>
            <a:pPr algn="l">
              <a:lnSpc>
                <a:spcPts val="3401"/>
              </a:lnSpc>
            </a:pPr>
          </a:p>
          <a:p>
            <a:pPr algn="l">
              <a:lnSpc>
                <a:spcPts val="3401"/>
              </a:lnSpc>
            </a:pPr>
          </a:p>
          <a:p>
            <a:pPr algn="l">
              <a:lnSpc>
                <a:spcPts val="340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true" rot="8959290">
            <a:off x="-7296727" y="-2838789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6610" y="1115221"/>
            <a:ext cx="4343730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80874" y="241092"/>
            <a:ext cx="814742" cy="795925"/>
          </a:xfrm>
          <a:custGeom>
            <a:avLst/>
            <a:gdLst/>
            <a:ahLst/>
            <a:cxnLst/>
            <a:rect r="r" b="b" t="t" l="l"/>
            <a:pathLst>
              <a:path h="795925" w="814742">
                <a:moveTo>
                  <a:pt x="0" y="0"/>
                </a:moveTo>
                <a:lnTo>
                  <a:pt x="814742" y="0"/>
                </a:lnTo>
                <a:lnTo>
                  <a:pt x="814742" y="795925"/>
                </a:lnTo>
                <a:lnTo>
                  <a:pt x="0" y="795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36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94051" y="246610"/>
            <a:ext cx="15680082" cy="68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8" spc="14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 – VISUALIZATION &amp; DASHBOARD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83065"/>
            <a:ext cx="7272470" cy="301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interactive visualizations using Plotly or Matplotlib.</a:t>
            </a:r>
          </a:p>
          <a:p>
            <a:pPr algn="l" marL="492882" indent="-246441" lvl="1">
              <a:lnSpc>
                <a:spcPts val="3401"/>
              </a:lnSpc>
              <a:buFont typeface="Arial"/>
              <a:buChar char="•"/>
            </a:pPr>
            <a:r>
              <a:rPr lang="en-US" b="true" sz="2282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Develop a dashboard (Streamlit/Dash) to display time-series price and volatility graphs, risk–return scatter plots, and enable comparison and filtering of cryptocurrencies.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10220790">
            <a:off x="13911554" y="-1145770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64800" y="5355042"/>
            <a:ext cx="7636370" cy="4305708"/>
            <a:chOff x="0" y="0"/>
            <a:chExt cx="2171019" cy="12241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019" cy="1224112"/>
            </a:xfrm>
            <a:custGeom>
              <a:avLst/>
              <a:gdLst/>
              <a:ahLst/>
              <a:cxnLst/>
              <a:rect r="r" b="b" t="t" l="l"/>
              <a:pathLst>
                <a:path h="1224112" w="2171019">
                  <a:moveTo>
                    <a:pt x="0" y="0"/>
                  </a:moveTo>
                  <a:lnTo>
                    <a:pt x="2171019" y="0"/>
                  </a:lnTo>
                  <a:lnTo>
                    <a:pt x="2171019" y="1224112"/>
                  </a:lnTo>
                  <a:lnTo>
                    <a:pt x="0" y="1224112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71019" cy="1281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86610" y="5695085"/>
            <a:ext cx="6968690" cy="3646195"/>
          </a:xfrm>
          <a:custGeom>
            <a:avLst/>
            <a:gdLst/>
            <a:ahLst/>
            <a:cxnLst/>
            <a:rect r="r" b="b" t="t" l="l"/>
            <a:pathLst>
              <a:path h="3646195" w="6968690">
                <a:moveTo>
                  <a:pt x="0" y="0"/>
                </a:moveTo>
                <a:lnTo>
                  <a:pt x="6968690" y="0"/>
                </a:lnTo>
                <a:lnTo>
                  <a:pt x="6968690" y="3646195"/>
                </a:lnTo>
                <a:lnTo>
                  <a:pt x="0" y="36461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7" t="0" r="-357" b="-562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04997"/>
            <a:ext cx="8014963" cy="3082829"/>
            <a:chOff x="0" y="0"/>
            <a:chExt cx="18558428" cy="71382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58428" cy="7138205"/>
            </a:xfrm>
            <a:custGeom>
              <a:avLst/>
              <a:gdLst/>
              <a:ahLst/>
              <a:cxnLst/>
              <a:rect r="r" b="b" t="t" l="l"/>
              <a:pathLst>
                <a:path h="7138205" w="18558428">
                  <a:moveTo>
                    <a:pt x="0" y="0"/>
                  </a:moveTo>
                  <a:lnTo>
                    <a:pt x="18558428" y="0"/>
                  </a:lnTo>
                  <a:lnTo>
                    <a:pt x="18558428" y="7138205"/>
                  </a:lnTo>
                  <a:lnTo>
                    <a:pt x="0" y="7138205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558428" cy="7166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0">
                  <a:solidFill>
                    <a:srgbClr val="F4F4F4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COMPLETED CRYPTO VOLATILITY AND RISK ANALYZER DASHBOARD.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0">
                  <a:solidFill>
                    <a:srgbClr val="F4F4F4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Generated a final risk report showing volatility levels and Sharpe ratios for each cryptocurrency.</a:t>
              </a:r>
            </a:p>
            <a:p>
              <a:pPr algn="l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71838" y="301510"/>
            <a:ext cx="12732841" cy="67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b="true" sz="3798" spc="140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 – RISK CLASSIFICATION &amp; REPORTING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9715" y="232775"/>
            <a:ext cx="814742" cy="795925"/>
          </a:xfrm>
          <a:custGeom>
            <a:avLst/>
            <a:gdLst/>
            <a:ahLst/>
            <a:cxnLst/>
            <a:rect r="r" b="b" t="t" l="l"/>
            <a:pathLst>
              <a:path h="795925" w="814742">
                <a:moveTo>
                  <a:pt x="0" y="0"/>
                </a:moveTo>
                <a:lnTo>
                  <a:pt x="814742" y="0"/>
                </a:lnTo>
                <a:lnTo>
                  <a:pt x="814742" y="795925"/>
                </a:lnTo>
                <a:lnTo>
                  <a:pt x="0" y="79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3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825842" y="-1444938"/>
            <a:ext cx="10794844" cy="15072046"/>
          </a:xfrm>
          <a:custGeom>
            <a:avLst/>
            <a:gdLst/>
            <a:ahLst/>
            <a:cxnLst/>
            <a:rect r="r" b="b" t="t" l="l"/>
            <a:pathLst>
              <a:path h="15072046" w="10794844">
                <a:moveTo>
                  <a:pt x="0" y="15072045"/>
                </a:moveTo>
                <a:lnTo>
                  <a:pt x="10794844" y="15072045"/>
                </a:lnTo>
                <a:lnTo>
                  <a:pt x="10794844" y="0"/>
                </a:lnTo>
                <a:lnTo>
                  <a:pt x="0" y="0"/>
                </a:lnTo>
                <a:lnTo>
                  <a:pt x="0" y="150720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0585" y="6921081"/>
            <a:ext cx="9142527" cy="2766745"/>
          </a:xfrm>
          <a:custGeom>
            <a:avLst/>
            <a:gdLst/>
            <a:ahLst/>
            <a:cxnLst/>
            <a:rect r="r" b="b" t="t" l="l"/>
            <a:pathLst>
              <a:path h="2766745" w="9142527">
                <a:moveTo>
                  <a:pt x="0" y="0"/>
                </a:moveTo>
                <a:lnTo>
                  <a:pt x="9142527" y="0"/>
                </a:lnTo>
                <a:lnTo>
                  <a:pt x="9142527" y="2766745"/>
                </a:lnTo>
                <a:lnTo>
                  <a:pt x="0" y="27667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88" r="0" b="-658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25842" y="8589047"/>
            <a:ext cx="2445092" cy="1098779"/>
          </a:xfrm>
          <a:custGeom>
            <a:avLst/>
            <a:gdLst/>
            <a:ahLst/>
            <a:cxnLst/>
            <a:rect r="r" b="b" t="t" l="l"/>
            <a:pathLst>
              <a:path h="1098779" w="2445092">
                <a:moveTo>
                  <a:pt x="0" y="0"/>
                </a:moveTo>
                <a:lnTo>
                  <a:pt x="2445092" y="0"/>
                </a:lnTo>
                <a:lnTo>
                  <a:pt x="2445092" y="1098779"/>
                </a:lnTo>
                <a:lnTo>
                  <a:pt x="0" y="1098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0466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0989" y="1138467"/>
            <a:ext cx="4181698" cy="67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493" y="2023050"/>
            <a:ext cx="8263091" cy="355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754" indent="-237377" lvl="1">
              <a:lnSpc>
                <a:spcPts val="3078"/>
              </a:lnSpc>
              <a:buFont typeface="Arial"/>
              <a:buChar char="•"/>
            </a:pPr>
            <a:r>
              <a:rPr lang="en-US" b="true" sz="2198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DEFINE THRESHOLDS TO CLASSIFY CRYPTOCURRENCIES INTO LOW RISK, MEDIUM RISK, AND HIGH RISK.</a:t>
            </a:r>
          </a:p>
          <a:p>
            <a:pPr algn="l" marL="474754" indent="-237377" lvl="1">
              <a:lnSpc>
                <a:spcPts val="3078"/>
              </a:lnSpc>
              <a:buFont typeface="Arial"/>
              <a:buChar char="•"/>
            </a:pPr>
            <a:r>
              <a:rPr lang="en-US" b="true" sz="2198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VISUALLY HIGHLIGHT HIGH-RISK ASSETS IN THE DASHBOARD.</a:t>
            </a:r>
          </a:p>
          <a:p>
            <a:pPr algn="l" marL="474754" indent="-237377" lvl="1">
              <a:lnSpc>
                <a:spcPts val="3276"/>
              </a:lnSpc>
              <a:buFont typeface="Arial"/>
              <a:buChar char="•"/>
            </a:pPr>
            <a:r>
              <a:rPr lang="en-US" b="true" sz="2198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SUMMARY REPORTS IN FORMATS SUCH AS CSV OR PNG.</a:t>
            </a:r>
          </a:p>
          <a:p>
            <a:pPr algn="l" marL="474754" indent="-237377" lvl="1">
              <a:lnSpc>
                <a:spcPts val="3078"/>
              </a:lnSpc>
              <a:buFont typeface="Arial"/>
              <a:buChar char="•"/>
            </a:pPr>
            <a:r>
              <a:rPr lang="en-US" b="true" sz="2198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 SYSTEM PERFORMANCE AND COMPLETE PROJECT DOCUMENTATION.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7493" y="5701181"/>
            <a:ext cx="2117452" cy="67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b="true" sz="3798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7445" y="1528371"/>
            <a:ext cx="7307710" cy="4562713"/>
            <a:chOff x="0" y="0"/>
            <a:chExt cx="16920801" cy="10564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20801" cy="10564837"/>
            </a:xfrm>
            <a:custGeom>
              <a:avLst/>
              <a:gdLst/>
              <a:ahLst/>
              <a:cxnLst/>
              <a:rect r="r" b="b" t="t" l="l"/>
              <a:pathLst>
                <a:path h="10564837" w="16920801">
                  <a:moveTo>
                    <a:pt x="0" y="0"/>
                  </a:moveTo>
                  <a:lnTo>
                    <a:pt x="16920801" y="0"/>
                  </a:lnTo>
                  <a:lnTo>
                    <a:pt x="16920801" y="10564837"/>
                  </a:lnTo>
                  <a:lnTo>
                    <a:pt x="0" y="10564837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6920801" cy="10593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569660" y="1813500"/>
            <a:ext cx="6701274" cy="3967749"/>
          </a:xfrm>
          <a:custGeom>
            <a:avLst/>
            <a:gdLst/>
            <a:ahLst/>
            <a:cxnLst/>
            <a:rect r="r" b="b" t="t" l="l"/>
            <a:pathLst>
              <a:path h="3967749" w="6701274">
                <a:moveTo>
                  <a:pt x="0" y="0"/>
                </a:moveTo>
                <a:lnTo>
                  <a:pt x="6701274" y="0"/>
                </a:lnTo>
                <a:lnTo>
                  <a:pt x="6701274" y="3967749"/>
                </a:lnTo>
                <a:lnTo>
                  <a:pt x="0" y="39677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2" t="0" r="-1589" b="-816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21327" y="0"/>
            <a:ext cx="7676198" cy="10287000"/>
          </a:xfrm>
          <a:custGeom>
            <a:avLst/>
            <a:gdLst/>
            <a:ahLst/>
            <a:cxnLst/>
            <a:rect r="r" b="b" t="t" l="l"/>
            <a:pathLst>
              <a:path h="10287000" w="7676198">
                <a:moveTo>
                  <a:pt x="0" y="0"/>
                </a:moveTo>
                <a:lnTo>
                  <a:pt x="7676198" y="0"/>
                </a:lnTo>
                <a:lnTo>
                  <a:pt x="76761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84" r="0" b="-82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65445" y="584014"/>
            <a:ext cx="2839578" cy="72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b="true" sz="4077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4994" y="3081907"/>
            <a:ext cx="9120480" cy="656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DASHBOARDS DISPLAYING CRYPTOCURRENCY PRICE TRENDS AND VOLATILITY.</a:t>
            </a:r>
          </a:p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RISK ANALYSIS METRICS FOR DIFFERENT CRYPTOCURRENCIES.</a:t>
            </a:r>
          </a:p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 OF CRYPTOCURRENCIES INTO:</a:t>
            </a:r>
          </a:p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LOW RISK</a:t>
            </a:r>
          </a:p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RISK</a:t>
            </a:r>
          </a:p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HIGH RISK</a:t>
            </a:r>
          </a:p>
          <a:p>
            <a:pPr algn="l" marL="617541" indent="-308771" lvl="1">
              <a:lnSpc>
                <a:spcPts val="4004"/>
              </a:lnSpc>
              <a:buFont typeface="Arial"/>
              <a:buChar char="•"/>
            </a:pPr>
            <a:r>
              <a:rPr lang="en-US" b="true" sz="2860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THESE INSIGHTS HELP INVESTORS BETTER UNDERSTAND MARKET RISK AND POTENTIAL RETURNS.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703051" y="562968"/>
            <a:ext cx="890812" cy="870238"/>
          </a:xfrm>
          <a:custGeom>
            <a:avLst/>
            <a:gdLst/>
            <a:ahLst/>
            <a:cxnLst/>
            <a:rect r="r" b="b" t="t" l="l"/>
            <a:pathLst>
              <a:path h="870238" w="890812">
                <a:moveTo>
                  <a:pt x="0" y="0"/>
                </a:moveTo>
                <a:lnTo>
                  <a:pt x="890812" y="0"/>
                </a:lnTo>
                <a:lnTo>
                  <a:pt x="890812" y="870237"/>
                </a:lnTo>
                <a:lnTo>
                  <a:pt x="0" y="870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36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3605" y="1759937"/>
            <a:ext cx="7216378" cy="684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b="true" sz="3798" spc="14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The Final system produces:</a:t>
            </a:r>
          </a:p>
        </p:txBody>
      </p:sp>
      <p:sp>
        <p:nvSpPr>
          <p:cNvPr name="AutoShape 7" id="7"/>
          <p:cNvSpPr/>
          <p:nvPr/>
        </p:nvSpPr>
        <p:spPr>
          <a:xfrm>
            <a:off x="1135016" y="2778753"/>
            <a:ext cx="2458847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-409185">
            <a:off x="-5680150" y="-3580739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4316461">
            <a:off x="-4352090" y="1632900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640" y="593581"/>
            <a:ext cx="890812" cy="870238"/>
          </a:xfrm>
          <a:custGeom>
            <a:avLst/>
            <a:gdLst/>
            <a:ahLst/>
            <a:cxnLst/>
            <a:rect r="r" b="b" t="t" l="l"/>
            <a:pathLst>
              <a:path h="870238" w="890812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33242" y="3014416"/>
            <a:ext cx="2458847" cy="0"/>
          </a:xfrm>
          <a:prstGeom prst="line">
            <a:avLst/>
          </a:prstGeom>
          <a:ln cap="flat" w="38100">
            <a:solidFill>
              <a:srgbClr val="049E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00943" y="614628"/>
            <a:ext cx="6769239" cy="72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b="true" sz="4077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391" y="1785441"/>
            <a:ext cx="9242396" cy="9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b="true" sz="2529" spc="93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project can be improved with additional features such as: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0567" y="3457700"/>
            <a:ext cx="9555802" cy="5800600"/>
            <a:chOff x="0" y="0"/>
            <a:chExt cx="2716714" cy="16491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6714" cy="1649110"/>
            </a:xfrm>
            <a:custGeom>
              <a:avLst/>
              <a:gdLst/>
              <a:ahLst/>
              <a:cxnLst/>
              <a:rect r="r" b="b" t="t" l="l"/>
              <a:pathLst>
                <a:path h="1649110" w="2716714">
                  <a:moveTo>
                    <a:pt x="0" y="0"/>
                  </a:moveTo>
                  <a:lnTo>
                    <a:pt x="2716714" y="0"/>
                  </a:lnTo>
                  <a:lnTo>
                    <a:pt x="2716714" y="1649110"/>
                  </a:lnTo>
                  <a:lnTo>
                    <a:pt x="0" y="1649110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16714" cy="1706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24441" y="3747165"/>
            <a:ext cx="8135346" cy="486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468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cryptocurrency price prediction models.</a:t>
            </a:r>
          </a:p>
          <a:p>
            <a:pPr algn="l">
              <a:lnSpc>
                <a:spcPts val="4855"/>
              </a:lnSpc>
            </a:pPr>
            <a:r>
              <a:rPr lang="en-US" b="true" sz="3468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 optimization tools for better investment strategies.</a:t>
            </a:r>
          </a:p>
          <a:p>
            <a:pPr algn="l">
              <a:lnSpc>
                <a:spcPts val="4855"/>
              </a:lnSpc>
            </a:pPr>
            <a:r>
              <a:rPr lang="en-US" b="true" sz="3468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alerts for sudden market volatility.</a:t>
            </a:r>
          </a:p>
          <a:p>
            <a:pPr algn="l">
              <a:lnSpc>
                <a:spcPts val="4855"/>
              </a:lnSpc>
            </a:pPr>
            <a:r>
              <a:rPr lang="en-US" b="true" sz="3468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with more cryptocurrency exchanges.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1128" y="5143500"/>
            <a:ext cx="567777" cy="567777"/>
          </a:xfrm>
          <a:custGeom>
            <a:avLst/>
            <a:gdLst/>
            <a:ahLst/>
            <a:cxnLst/>
            <a:rect r="r" b="b" t="t" l="l"/>
            <a:pathLst>
              <a:path h="567777" w="567777">
                <a:moveTo>
                  <a:pt x="0" y="0"/>
                </a:moveTo>
                <a:lnTo>
                  <a:pt x="567776" y="0"/>
                </a:lnTo>
                <a:lnTo>
                  <a:pt x="567776" y="567777"/>
                </a:lnTo>
                <a:lnTo>
                  <a:pt x="0" y="567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2640" y="7501140"/>
            <a:ext cx="581796" cy="566072"/>
          </a:xfrm>
          <a:custGeom>
            <a:avLst/>
            <a:gdLst/>
            <a:ahLst/>
            <a:cxnLst/>
            <a:rect r="r" b="b" t="t" l="l"/>
            <a:pathLst>
              <a:path h="566072" w="581796">
                <a:moveTo>
                  <a:pt x="0" y="0"/>
                </a:moveTo>
                <a:lnTo>
                  <a:pt x="581796" y="0"/>
                </a:lnTo>
                <a:lnTo>
                  <a:pt x="581796" y="566072"/>
                </a:lnTo>
                <a:lnTo>
                  <a:pt x="0" y="566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1128" y="6228747"/>
            <a:ext cx="583308" cy="567543"/>
          </a:xfrm>
          <a:custGeom>
            <a:avLst/>
            <a:gdLst/>
            <a:ahLst/>
            <a:cxnLst/>
            <a:rect r="r" b="b" t="t" l="l"/>
            <a:pathLst>
              <a:path h="567543" w="583308">
                <a:moveTo>
                  <a:pt x="0" y="0"/>
                </a:moveTo>
                <a:lnTo>
                  <a:pt x="583308" y="0"/>
                </a:lnTo>
                <a:lnTo>
                  <a:pt x="583308" y="567543"/>
                </a:lnTo>
                <a:lnTo>
                  <a:pt x="0" y="567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3929" y="3854315"/>
            <a:ext cx="582174" cy="582174"/>
          </a:xfrm>
          <a:custGeom>
            <a:avLst/>
            <a:gdLst/>
            <a:ahLst/>
            <a:cxnLst/>
            <a:rect r="r" b="b" t="t" l="l"/>
            <a:pathLst>
              <a:path h="582174" w="582174">
                <a:moveTo>
                  <a:pt x="0" y="0"/>
                </a:moveTo>
                <a:lnTo>
                  <a:pt x="582174" y="0"/>
                </a:lnTo>
                <a:lnTo>
                  <a:pt x="582174" y="582173"/>
                </a:lnTo>
                <a:lnTo>
                  <a:pt x="0" y="582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409185">
            <a:off x="-6359097" y="-3868776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1"/>
                </a:moveTo>
                <a:lnTo>
                  <a:pt x="10234230" y="14289301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5714675">
            <a:off x="-4606548" y="2037633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84920" y="16226"/>
            <a:ext cx="7703080" cy="10270774"/>
          </a:xfrm>
          <a:custGeom>
            <a:avLst/>
            <a:gdLst/>
            <a:ahLst/>
            <a:cxnLst/>
            <a:rect r="r" b="b" t="t" l="l"/>
            <a:pathLst>
              <a:path h="10270774" w="7703080">
                <a:moveTo>
                  <a:pt x="0" y="0"/>
                </a:moveTo>
                <a:lnTo>
                  <a:pt x="7703080" y="0"/>
                </a:lnTo>
                <a:lnTo>
                  <a:pt x="7703080" y="10270774"/>
                </a:lnTo>
                <a:lnTo>
                  <a:pt x="0" y="102707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19056" y="712921"/>
            <a:ext cx="4643140" cy="94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0"/>
              </a:lnSpc>
              <a:spcBef>
                <a:spcPct val="0"/>
              </a:spcBef>
            </a:pPr>
            <a:r>
              <a:rPr lang="en-US" b="true" sz="5393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577999" y="846271"/>
            <a:ext cx="814742" cy="795925"/>
          </a:xfrm>
          <a:custGeom>
            <a:avLst/>
            <a:gdLst/>
            <a:ahLst/>
            <a:cxnLst/>
            <a:rect r="r" b="b" t="t" l="l"/>
            <a:pathLst>
              <a:path h="795925" w="814742">
                <a:moveTo>
                  <a:pt x="0" y="0"/>
                </a:moveTo>
                <a:lnTo>
                  <a:pt x="814742" y="0"/>
                </a:lnTo>
                <a:lnTo>
                  <a:pt x="814742" y="795925"/>
                </a:lnTo>
                <a:lnTo>
                  <a:pt x="0" y="79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36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8842033">
            <a:off x="11869030" y="-3132729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9480" y="1527896"/>
            <a:ext cx="15169091" cy="723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0"/>
              </a:lnSpc>
            </a:pPr>
          </a:p>
          <a:p>
            <a:pPr algn="l" marL="893011" indent="-446506" lvl="1">
              <a:lnSpc>
                <a:spcPts val="5790"/>
              </a:lnSpc>
              <a:buFont typeface="Arial"/>
              <a:buChar char="•"/>
            </a:pPr>
            <a:r>
              <a:rPr lang="en-US" b="true" sz="413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Crypto Volatility and Risk Analyzer helps analyze cryptocurrency markets using data analytics techniques.</a:t>
            </a:r>
          </a:p>
          <a:p>
            <a:pPr algn="l" marL="893011" indent="-446506" lvl="1">
              <a:lnSpc>
                <a:spcPts val="5790"/>
              </a:lnSpc>
              <a:buFont typeface="Arial"/>
              <a:buChar char="•"/>
            </a:pPr>
            <a:r>
              <a:rPr lang="en-US" b="true" sz="413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By calculating risk metrics and visualizing insights through dashboards, the system helps investors understand volatility and make informed decisions.</a:t>
            </a:r>
          </a:p>
          <a:p>
            <a:pPr algn="l" marL="893011" indent="-446506" lvl="1">
              <a:lnSpc>
                <a:spcPts val="5790"/>
              </a:lnSpc>
              <a:buFont typeface="Arial"/>
              <a:buChar char="•"/>
            </a:pPr>
            <a:r>
              <a:rPr lang="en-US" b="true" sz="413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project demonstrates how data science and visualization can be applied in financial market analysis.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1956001">
            <a:off x="-4189382" y="-3191267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842033">
            <a:off x="10716879" y="-2001151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3016969">
            <a:off x="-2675828" y="-1177059"/>
            <a:ext cx="10234230" cy="14289302"/>
          </a:xfrm>
          <a:custGeom>
            <a:avLst/>
            <a:gdLst/>
            <a:ahLst/>
            <a:cxnLst/>
            <a:rect r="r" b="b" t="t" l="l"/>
            <a:pathLst>
              <a:path h="14289302" w="10234230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09349" y="3071554"/>
            <a:ext cx="7991218" cy="14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0591"/>
              </a:lnSpc>
              <a:spcBef>
                <a:spcPct val="0"/>
              </a:spcBef>
            </a:pPr>
            <a:r>
              <a:rPr lang="en-US" b="true" sz="962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46028" y="5378839"/>
            <a:ext cx="9317861" cy="58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welcome any questions or suggestions.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DAHD6jmoHeg</dc:identifier>
  <dcterms:modified xsi:type="dcterms:W3CDTF">2011-08-01T06:04:30Z</dcterms:modified>
  <cp:revision>1</cp:revision>
  <dc:title>Blue Modern Annual Company Report Presentation</dc:title>
</cp:coreProperties>
</file>